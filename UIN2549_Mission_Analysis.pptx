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28600" cy="508863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280160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502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1F"/>
                </a:solidFill>
              </a:rPr>
              <a:t>UIN2549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Mission Performance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Design Review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943600" cy="36576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EMAX MT3110 480KV  ·  12×3.8" Prop  ·  4S 6800 mAh  ·  MTOW 1.995 kg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2011680" cy="777240"/>
          </a:xfrm>
          <a:prstGeom prst="rect">
            <a:avLst/>
          </a:prstGeom>
          <a:solidFill>
            <a:srgbClr val="1A1A3A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E5FF"/>
                </a:solidFill>
              </a:rPr>
              <a:t>MTOW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1.995 kg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88920" y="3429000"/>
            <a:ext cx="2011680" cy="777240"/>
          </a:xfrm>
          <a:prstGeom prst="rect">
            <a:avLst/>
          </a:prstGeom>
          <a:solidFill>
            <a:srgbClr val="1A1A3A"/>
          </a:solidFill>
          <a:ln w="12700">
            <a:solidFill>
              <a:srgbClr val="69F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9FF47"/>
                </a:solidFill>
              </a:rPr>
              <a:t>Payload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8892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200 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3429000"/>
            <a:ext cx="2011680" cy="777240"/>
          </a:xfrm>
          <a:prstGeom prst="rect">
            <a:avLst/>
          </a:prstGeom>
          <a:solidFill>
            <a:srgbClr val="1A1A3A"/>
          </a:solidFill>
          <a:ln w="12700">
            <a:solidFill>
              <a:srgbClr val="FF9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9100"/>
                </a:solidFill>
              </a:rPr>
              <a:t>Battery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492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4S 6.8 Ah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3A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Autonomous Surveillance &amp; Payload Delivery UAS  ·  Competition Design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UIN2549  ·  X-Frame Quadcopter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36576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0B1F"/>
                </a:solidFill>
              </a:rPr>
              <a:t>AIRFRAME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Config: X-Frame Quadcopter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Wheelbase: 349.6 mm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Prop: 12×3.8" APC1238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Dihedral arms: 7.5°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Arms: Carbon Fibre 3K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Landing gear: Nylon CF6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97480" cy="3657600"/>
          </a:xfrm>
          <a:prstGeom prst="rect">
            <a:avLst/>
          </a:prstGeom>
          <a:solidFill>
            <a:srgbClr val="1A1A3A"/>
          </a:solidFill>
          <a:ln w="12700">
            <a:solidFill>
              <a:srgbClr val="FF9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697480" cy="384048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0B1F"/>
                </a:solidFill>
              </a:rPr>
              <a:t>PROPULSION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572768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Motor: EMAX MT3110 480KV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Max thrust: 1020 gf / motor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Total thrust: 4080 gf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ESC: FVT LittleBee 30A-S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Battery: 4S 6800 mAh 40C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TWR: 1.8 (target) → 2.07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2697480" cy="3657600"/>
          </a:xfrm>
          <a:prstGeom prst="rect">
            <a:avLst/>
          </a:prstGeom>
          <a:solidFill>
            <a:srgbClr val="1A1A3A"/>
          </a:solidFill>
          <a:ln w="12700">
            <a:solidFill>
              <a:srgbClr val="69F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43000"/>
            <a:ext cx="2697480" cy="384048"/>
          </a:xfrm>
          <a:prstGeom prst="rect">
            <a:avLst/>
          </a:prstGeom>
          <a:solidFill>
            <a:srgbClr val="69FF47"/>
          </a:solidFill>
          <a:ln w="12700">
            <a:solidFill>
              <a:srgbClr val="69FF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0B1F"/>
                </a:solidFill>
              </a:rPr>
              <a:t>AVIONICS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572768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FC: Pixhawk PX4 (3× IMU)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Companion: Raspberry Pi 4B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GPS: Radiolink M10N (10Hz)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LiDAR: Benewake TF-LC02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Thermal: MLX90640 32×24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Link: Holybro SiK 433 MHz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</a:rPr>
              <a:t>1.995 kg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MTOW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6596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69F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9FF47"/>
                </a:solidFill>
              </a:rPr>
              <a:t>200 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Payload capacity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6596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FF9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100"/>
                </a:solidFill>
              </a:rPr>
              <a:t>451.9 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6864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Hover power (measured)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6596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081"/>
                </a:solidFill>
              </a:rPr>
              <a:t>32.1 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Hover current draw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196596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154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</a:rPr>
              <a:t>10.15 min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Endurance @80% disch.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50592" y="2880360"/>
            <a:ext cx="196596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69F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50592" y="3154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9FF47"/>
                </a:solidFill>
              </a:rPr>
              <a:t>2.07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50592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Thrust-to-weight ratio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26864" y="2880360"/>
            <a:ext cx="196596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FF9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26864" y="3154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100"/>
                </a:solidFill>
              </a:rPr>
              <a:t>4S 6.8Ah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26864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Battery configuration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03136" y="2880360"/>
            <a:ext cx="196596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69F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03136" y="3154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9FF47"/>
                </a:solidFill>
              </a:rPr>
              <a:t>±0.1 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03136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90B0"/>
                </a:solidFill>
              </a:rPr>
              <a:t>GPS accuracy (RTK)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Efficiency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against document-measured hover values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577840" cy="33832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172200" y="1051560"/>
            <a:ext cx="2651760" cy="914400"/>
          </a:xfrm>
          <a:prstGeom prst="rect">
            <a:avLst/>
          </a:prstGeom>
          <a:solidFill>
            <a:srgbClr val="1A1A3A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72200" y="11064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4081"/>
                </a:solidFill>
              </a:rPr>
              <a:t>Hover power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72200" y="1344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451.9 W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72200" y="1673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32.1 A draw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172200" y="2148840"/>
            <a:ext cx="2651760" cy="914400"/>
          </a:xfrm>
          <a:prstGeom prst="rect">
            <a:avLst/>
          </a:prstGeom>
          <a:solidFill>
            <a:srgbClr val="1A1A3A"/>
          </a:solidFill>
          <a:ln w="12700">
            <a:solidFill>
              <a:srgbClr val="69F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2203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69FF47"/>
                </a:solidFill>
              </a:rPr>
              <a:t>Max endurance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72200" y="2441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14.9 m/s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72200" y="27706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208 W at speed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72200" y="3246120"/>
            <a:ext cx="2651760" cy="914400"/>
          </a:xfrm>
          <a:prstGeom prst="rect">
            <a:avLst/>
          </a:prstGeom>
          <a:solidFill>
            <a:srgbClr val="1A1A3A"/>
          </a:solidFill>
          <a:ln w="12700">
            <a:solidFill>
              <a:srgbClr val="FF9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3300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9100"/>
                </a:solidFill>
              </a:rPr>
              <a:t>Optimal cruise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72200" y="35387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15.0 m/s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72200" y="3867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min energy/m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90B0"/>
                </a:solidFill>
              </a:rPr>
              <a:t>Note: Glauert forward-flight model, calibrated to measured hover point. Power drops with speed due to reduced induced velocity.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9FF47"/>
          </a:solidFill>
          <a:ln w="12700">
            <a:solidFill>
              <a:srgbClr val="69FF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&amp; Range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depth of discharge  ·  Battery: 4S 6800 mAh @ 14.8 V = 100.6 Wh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8503920" cy="32461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20040" y="4343400"/>
            <a:ext cx="2697480" cy="658368"/>
          </a:xfrm>
          <a:prstGeom prst="rect">
            <a:avLst/>
          </a:prstGeom>
          <a:solidFill>
            <a:srgbClr val="1A1A3A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081"/>
                </a:solidFill>
              </a:rPr>
              <a:t>10.15 min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Doc endurance @80%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fixed hover-current method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46120" y="4343400"/>
            <a:ext cx="2697480" cy="658368"/>
          </a:xfrm>
          <a:prstGeom prst="rect">
            <a:avLst/>
          </a:prstGeom>
          <a:solidFill>
            <a:srgbClr val="1A1A3A"/>
          </a:solidFill>
          <a:ln w="12700">
            <a:solidFill>
              <a:srgbClr val="69F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37560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9FF47"/>
                </a:solidFill>
              </a:rPr>
              <a:t>23.2 min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Physics model peak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37560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Glauert, speed-optimised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172200" y="4343400"/>
            <a:ext cx="2697480" cy="658368"/>
          </a:xfrm>
          <a:prstGeom prst="rect">
            <a:avLst/>
          </a:prstGeom>
          <a:solidFill>
            <a:srgbClr val="1A1A3A"/>
          </a:solidFill>
          <a:ln w="12700">
            <a:solidFill>
              <a:srgbClr val="FF9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100"/>
                </a:solidFill>
              </a:rPr>
              <a:t>20.9 km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Max range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63640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B0"/>
                </a:solidFill>
              </a:rPr>
              <a:t>at optimal cruise speed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Coverage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Lawnmower survey  ·  RPi Camera 3  ·  75° FOV  ·  20% sidelap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4663440" cy="29260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212080" y="960120"/>
            <a:ext cx="3611880" cy="2926080"/>
          </a:xfrm>
          <a:prstGeom prst="rect">
            <a:avLst/>
          </a:prstGeom>
          <a:solidFill>
            <a:srgbClr val="1A1A3A"/>
          </a:solidFill>
          <a:ln w="12700">
            <a:solidFill>
              <a:srgbClr val="1A1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12080" y="10058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9100"/>
                </a:solidFill>
              </a:rPr>
              <a:t>MISSION PARAMETERS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49240" y="1463040"/>
            <a:ext cx="3291840" cy="329184"/>
          </a:xfrm>
          <a:prstGeom prst="rect">
            <a:avLst/>
          </a:prstGeom>
          <a:solidFill>
            <a:srgbClr val="0B0B1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1490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Field size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86600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100 × 60 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1856232"/>
            <a:ext cx="3291840" cy="329184"/>
          </a:xfrm>
          <a:prstGeom prst="rect">
            <a:avLst/>
          </a:prstGeom>
          <a:solidFill>
            <a:srgbClr val="0B0B1F"/>
          </a:solidFill>
          <a:ln w="12700">
            <a:solidFill>
              <a:srgbClr val="69FF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0680" y="1883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Optimal altitude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86600" y="1883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FF47"/>
                </a:solidFill>
              </a:rPr>
              <a:t>49 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49240" y="2249424"/>
            <a:ext cx="3291840" cy="329184"/>
          </a:xfrm>
          <a:prstGeom prst="rect">
            <a:avLst/>
          </a:prstGeom>
          <a:solidFill>
            <a:srgbClr val="0B0B1F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0680" y="2276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Swath width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86600" y="2276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100"/>
                </a:solidFill>
              </a:rPr>
              <a:t>75 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49240" y="2642616"/>
            <a:ext cx="3291840" cy="329184"/>
          </a:xfrm>
          <a:prstGeom prst="rect">
            <a:avLst/>
          </a:prstGeom>
          <a:solidFill>
            <a:srgbClr val="0B0B1F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068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Track spacing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86600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100"/>
                </a:solidFill>
              </a:rPr>
              <a:t>60 m  (20% lap)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49240" y="3035808"/>
            <a:ext cx="3291840" cy="329184"/>
          </a:xfrm>
          <a:prstGeom prst="rect">
            <a:avLst/>
          </a:prstGeom>
          <a:solidFill>
            <a:srgbClr val="0B0B1F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40680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Mission energy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08660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4081"/>
                </a:solidFill>
              </a:rPr>
              <a:t>0.76 Wh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49240" y="3429000"/>
            <a:ext cx="3291840" cy="329184"/>
          </a:xfrm>
          <a:prstGeom prst="rect">
            <a:avLst/>
          </a:prstGeom>
          <a:solidFill>
            <a:srgbClr val="0B0B1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0680" y="3456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B0"/>
                </a:solidFill>
              </a:rPr>
              <a:t>Turn radius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086600" y="3456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20.3 m</a:t>
            </a:r>
            <a:endParaRPr lang="en-US" sz="10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977640"/>
            <a:ext cx="8503920" cy="10058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Stack &amp; Flight Safety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8288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0B1F"/>
                </a:solidFill>
              </a:rPr>
              <a:t>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71016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YOLOv5/v8 object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Thermal-RGB sensor fusion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DBSCAN zone clustering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&lt;500 ms end-to-end latency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1828800"/>
          </a:xfrm>
          <a:prstGeom prst="rect">
            <a:avLst/>
          </a:prstGeom>
          <a:solidFill>
            <a:srgbClr val="1A1A3A"/>
          </a:solidFill>
          <a:ln w="12700">
            <a:solidFill>
              <a:srgbClr val="FF9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0B1F"/>
                </a:solidFill>
              </a:rPr>
              <a:t>NAVIGATION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271016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PX4 Mission Mode waypoints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Lawnmower 20% overlap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MAVLink geofence (PX4)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Barometer + GPS alt hold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114800" cy="1828800"/>
          </a:xfrm>
          <a:prstGeom prst="rect">
            <a:avLst/>
          </a:prstGeom>
          <a:solidFill>
            <a:srgbClr val="1A1A3A"/>
          </a:solidFill>
          <a:ln w="12700">
            <a:solidFill>
              <a:srgbClr val="69F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80360"/>
            <a:ext cx="4114800" cy="347472"/>
          </a:xfrm>
          <a:prstGeom prst="rect">
            <a:avLst/>
          </a:prstGeom>
          <a:solidFill>
            <a:srgbClr val="69FF47"/>
          </a:solidFill>
          <a:ln w="12700">
            <a:solidFill>
              <a:srgbClr val="69F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80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0B1F"/>
                </a:solidFill>
              </a:rPr>
              <a:t>PAYLOAD DROP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82696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Descend 15 m → 10 m @ 2 m/s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MG90 servo release (PWM)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Accel confirms weight shift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Retry ×2 on jam, then abort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828800"/>
          </a:xfrm>
          <a:prstGeom prst="rect">
            <a:avLst/>
          </a:prstGeom>
          <a:solidFill>
            <a:srgbClr val="1A1A3A"/>
          </a:solidFill>
          <a:ln w="12700">
            <a:solidFill>
              <a:srgbClr val="FF40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4114800" cy="347472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0B1F"/>
                </a:solidFill>
              </a:rPr>
              <a:t>FAIL-SAFES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282696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Battery &lt;20% → RTL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RC loss &gt;5 s → RTL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Geofence breach → RTL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Telemetry timeout → RTL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709160"/>
            <a:ext cx="8503920" cy="329184"/>
          </a:xfrm>
          <a:prstGeom prst="rect">
            <a:avLst/>
          </a:prstGeom>
          <a:solidFill>
            <a:srgbClr val="1A1A3A"/>
          </a:solidFill>
          <a:ln w="12700">
            <a:solidFill>
              <a:srgbClr val="FFE5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57F"/>
                </a:solidFill>
              </a:rPr>
              <a:t>SORA compliance: RTL on all command/link loss events  ·  Geofence enforced at firmware level  ·  Battery voltage + capacity dual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9FF47"/>
          </a:solidFill>
          <a:ln w="12700">
            <a:solidFill>
              <a:srgbClr val="69FF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Innovations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97480" cy="4069080"/>
          </a:xfrm>
          <a:prstGeom prst="rect">
            <a:avLst/>
          </a:prstGeom>
          <a:solidFill>
            <a:srgbClr val="1A1A3A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32688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1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9509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</a:rPr>
              <a:t>Dihedral Motor Arms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508760"/>
            <a:ext cx="2468880" cy="1828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91056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7.5° downward tilt per arm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Pendulum effect → passive roll/pitch damping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Reduces reliance on active PID correction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Minimises prop-wash on sensors &amp; payload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~1.5–3% thrust penalty — acceptable trade-off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868680"/>
            <a:ext cx="2697480" cy="4069080"/>
          </a:xfrm>
          <a:prstGeom prst="rect">
            <a:avLst/>
          </a:prstGeom>
          <a:solidFill>
            <a:srgbClr val="1A1A3A"/>
          </a:solidFill>
          <a:ln w="12700">
            <a:solidFill>
              <a:srgbClr val="FF9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32688"/>
            <a:ext cx="475488" cy="475488"/>
          </a:xfrm>
          <a:prstGeom prst="ellipse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1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9509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100"/>
                </a:solidFill>
              </a:rPr>
              <a:t>AI-Powered DCI Scoring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1508760"/>
            <a:ext cx="2468880" cy="18288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91056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Disaster Complexity Index  (0–100)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DeepLabV3+ semantic segmentation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XGBoost triage: Low / Moderate / Critical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Thermal fusion for trapped-person detection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Optimises payload drop priority autonomously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868680"/>
            <a:ext cx="2697480" cy="4069080"/>
          </a:xfrm>
          <a:prstGeom prst="rect">
            <a:avLst/>
          </a:prstGeom>
          <a:solidFill>
            <a:srgbClr val="1A1A3A"/>
          </a:solidFill>
          <a:ln w="12700">
            <a:solidFill>
              <a:srgbClr val="69FF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932688"/>
            <a:ext cx="475488" cy="475488"/>
          </a:xfrm>
          <a:prstGeom prst="ellipse">
            <a:avLst/>
          </a:prstGeom>
          <a:solidFill>
            <a:srgbClr val="69FF47"/>
          </a:solidFill>
          <a:ln w="12700">
            <a:solidFill>
              <a:srgbClr val="69FF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1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48272" y="9509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9FF47"/>
                </a:solidFill>
              </a:rPr>
              <a:t>3D Terrain Reconstruction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1508760"/>
            <a:ext cx="2468880" cy="18288"/>
          </a:xfrm>
          <a:prstGeom prst="rect">
            <a:avLst/>
          </a:prstGeom>
          <a:solidFill>
            <a:srgbClr val="69FF47"/>
          </a:solidFill>
          <a:ln w="12700">
            <a:solidFill>
              <a:srgbClr val="69F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591056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Structure-from-Motion + Multi-View Stereo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Real-time 3D map from camera frames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LiDAR fallback in smoke/low-light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Multi-drone synergy: 50% faster mapping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Feeds route planner &amp; survivor search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96112"/>
          <a:ext cx="8321040" cy="3794760"/>
        </p:xfrm>
        <a:graphic>
          <a:graphicData uri="http://schemas.openxmlformats.org/drawingml/2006/table">
            <a:tbl>
              <a:tblPr/>
              <a:tblGrid>
                <a:gridCol w="2560320"/>
                <a:gridCol w="5760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X-Frame quadcopter  ·  480KV motors  ·  12" props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MTOW /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1.995 kg total  /  200 g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451.9 W  (32.1 A @ 14.8 V) — validated vs. doc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Endurance (doc)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10.15 min @ 80% discharge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 model 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 min  (speed-optimised forward flight)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altitude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m  (75° FOV, 20% sidelap, 60 m spacing)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 on battery / RC / telemetry / geofence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innovation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Dihedral arms + AI DCI scoring + 3D terrain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A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UIN2549 — UAS Mission Performance</dc:title>
  <dc:subject>PptxGenJS Presentation</dc:subject>
  <dc:creator>UIN2549 Team</dc:creator>
  <cp:lastModifiedBy>UIN2549 Team</cp:lastModifiedBy>
  <cp:revision>1</cp:revision>
  <dcterms:created xsi:type="dcterms:W3CDTF">2026-03-23T21:34:01Z</dcterms:created>
  <dcterms:modified xsi:type="dcterms:W3CDTF">2026-03-23T21:34:01Z</dcterms:modified>
</cp:coreProperties>
</file>