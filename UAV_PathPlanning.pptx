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DESIGN-AWARE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Path Planning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Mechanical Design Influences Mission Optimization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0" cy="27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</a:t>
            </a:r>
            <a:pPr indent="0" marL="0">
              <a:buNone/>
            </a:pPr>
            <a:r>
              <a:rPr lang="en-US" sz="12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UAV Autonomous Systems Project  | 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097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1097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097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097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554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554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554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554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011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011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011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011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4688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24688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24688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4688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9260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29260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29260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29260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3383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3383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383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3832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3840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9480" y="3840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3840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38404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4297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69480" y="4297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4297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2440" y="4297680"/>
            <a:ext cx="54864" cy="54864"/>
          </a:xfrm>
          <a:prstGeom prst="ellipse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Current UAV Planning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743200" cy="21031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Drone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3042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planners assume all drones are identical — design differences are completely ignored.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743200" cy="21031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55848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Paths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3042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path is applied to radically different drones, ignoring their physical constraints.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2743200" cy="21031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3716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Inefficiency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81928" y="23042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unrealistic trajectories, energy waste, and mission failures in the field.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77724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3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planner that adapts to each drone's physical design, producing realistic and efficient missions.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CORE IDEA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Physics → Optimal Mission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162232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Design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Rotor count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mass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Propeller size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capacity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2377440"/>
            <a:ext cx="274320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560320" cy="2286000"/>
          </a:xfrm>
          <a:prstGeom prst="rect">
            <a:avLst/>
          </a:prstGeom>
          <a:solidFill>
            <a:srgbClr val="162232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71600"/>
            <a:ext cx="25603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 envelope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model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radius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limits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16168" y="2377440"/>
            <a:ext cx="274320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71600"/>
            <a:ext cx="2560320" cy="2286000"/>
          </a:xfrm>
          <a:prstGeom prst="rect">
            <a:avLst/>
          </a:prstGeom>
          <a:solidFill>
            <a:srgbClr val="16223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371600"/>
            <a:ext cx="256032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Path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Cruise speed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 altitude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path
</a:t>
            </a:r>
            <a:pPr indent="0" marL="0">
              <a:buNone/>
            </a:pPr>
            <a:r>
              <a:rPr lang="en-US" sz="11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energy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KEY DESIGN PARAMETERS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Defines Flight Capability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612648"/>
          </a:xfrm>
          <a:prstGeom prst="rect">
            <a:avLst/>
          </a:prstGeom>
          <a:solidFill>
            <a:srgbClr val="162232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426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Count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82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4, 6 or 8 motors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527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stability and control authority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075688"/>
            <a:ext cx="8503920" cy="612648"/>
          </a:xfrm>
          <a:prstGeom prst="rect">
            <a:avLst/>
          </a:prstGeom>
          <a:solidFill>
            <a:srgbClr val="162232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75688"/>
            <a:ext cx="64008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86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+ payload + battery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2311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drives required thrust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779776"/>
            <a:ext cx="8503920" cy="612648"/>
          </a:xfrm>
          <a:prstGeom prst="rect">
            <a:avLst/>
          </a:prstGeom>
          <a:solidFill>
            <a:srgbClr val="162232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79776"/>
            <a:ext cx="64008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Size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090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&amp; pitch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29352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aerodynamic efficiency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483864"/>
            <a:ext cx="8503920" cy="612648"/>
          </a:xfrm>
          <a:prstGeom prst="rect">
            <a:avLst/>
          </a:prstGeom>
          <a:solidFill>
            <a:srgbClr val="162232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83864"/>
            <a:ext cx="64008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Characteristics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rating, efficiency curve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639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power draw at given throttle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187952"/>
            <a:ext cx="8503920" cy="612648"/>
          </a:xfrm>
          <a:prstGeom prst="rect">
            <a:avLst/>
          </a:prstGeom>
          <a:solidFill>
            <a:srgbClr val="162232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187952"/>
            <a:ext cx="64008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498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× Ah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3360" y="4343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on total mission energy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ROTOR CONFIGURATION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Mission ≠ Same Optimal Path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14800" cy="338328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41148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TRICOPTER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Rotors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" y="245059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stable yaw control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" y="2962656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9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larger turn radius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" y="347472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cruise speed limit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" y="3986784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13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for lightweight payloads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4114800" cy="3383280"/>
          </a:xfrm>
          <a:prstGeom prst="rect">
            <a:avLst/>
          </a:prstGeom>
          <a:solidFill>
            <a:srgbClr val="16223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325880"/>
            <a:ext cx="41148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25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QUADCOPTER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Rotors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873752" y="245059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Balanced, stable platform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73752" y="2962656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889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area mapping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73752" y="3474720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achievable cruise speed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73752" y="3986784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913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most missions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MASS, PAYLOAD &amp; POWER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Weight–Energy Cascade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572000" cy="338328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frame + payload load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39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Thrust Required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49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must work harder to stay aloft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Rises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852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∝ T^(3/2) — non-linear relationship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Flight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depletes faster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77056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77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8496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Mission Coverage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599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area can be surveyed per flight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66360" y="1325880"/>
            <a:ext cx="3657600" cy="1554480"/>
          </a:xfrm>
          <a:prstGeom prst="rect">
            <a:avLst/>
          </a:prstGeom>
          <a:solidFill>
            <a:srgbClr val="162232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03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Power–Thrust Relation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∝  T ^(3/2)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5166360" y="3063240"/>
            <a:ext cx="3657600" cy="1645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0352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21808" y="358444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planning is not optional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321808" y="39319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3867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must be minimized where possible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21808" y="427939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215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model must be non-linear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ENERGY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Smart, Not Just Fast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8503920" cy="91440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Power:   P  =  P_induced  +  P_drag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4114800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Induced Power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P_ind  ∝  T^(3/2)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required to generate lift against gravity. Dominant at low speeds.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423160"/>
            <a:ext cx="4114800" cy="1417320"/>
          </a:xfrm>
          <a:prstGeom prst="rect">
            <a:avLst/>
          </a:prstGeom>
          <a:solidFill>
            <a:srgbClr val="16223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Power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P_drag  ∝  V³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expended overcoming aerodynamic drag during forward flight. Grows with V³.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0077B6">
              <a:alpha val="2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SPEED  =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 P / V )   </a:t>
            </a:r>
            <a:pPr indent="0" marL="0">
              <a:buNone/>
            </a:pPr>
            <a:r>
              <a:rPr lang="en-US" sz="12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minimise energy per unit distance, not total power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FLIGHT ENVELOPE &amp; PATH PLANNING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Drone Can Physically 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40233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ENVELOPE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from drag &amp; stability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78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Tilt Angle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horizontal acceleration &amp; turning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Turn Radius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V² / (g · tan θ)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Reserve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kept for RTH safety margin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1325880"/>
            <a:ext cx="4206240" cy="338328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325880"/>
            <a:ext cx="42062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STRATEGY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Lawnmower Pattern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2331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divided into parallel sweeps, each obeying turn radius and speed constraints derived from the drone's physical model.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&amp; Camera Link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3547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= 2h · tan(FOV/2) · (1 − overlap)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altitude → wider footprint → fewer passes needed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Contribution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11680"/>
            <a:ext cx="1078992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53312" y="2423160"/>
            <a:ext cx="155448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08760" y="2011680"/>
            <a:ext cx="107899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87752" y="2423160"/>
            <a:ext cx="155448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2011680"/>
            <a:ext cx="1078992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22192" y="2423160"/>
            <a:ext cx="155448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2011680"/>
            <a:ext cx="1078992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56632" y="2423160"/>
            <a:ext cx="155448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2011680"/>
            <a:ext cx="1078992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1072" y="2423160"/>
            <a:ext cx="155448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2011680"/>
            <a:ext cx="1078992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25512" y="2423160"/>
            <a:ext cx="155448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2011680"/>
            <a:ext cx="1078992" cy="914400"/>
          </a:xfrm>
          <a:prstGeom prst="rect">
            <a:avLst/>
          </a:prstGeom>
          <a:solidFill>
            <a:srgbClr val="16223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0960" y="2011680"/>
            <a:ext cx="107899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19456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8503920" cy="1417320"/>
          </a:xfrm>
          <a:prstGeom prst="rect">
            <a:avLst/>
          </a:prstGeom>
          <a:solidFill>
            <a:srgbClr val="162232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design parameters (mass, rotors, propellers, battery)   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Process: </a:t>
            </a:r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→ constraints → optimisation loop   </a:t>
            </a:r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Output: </a:t>
            </a:r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speed, altitude, path, energy budget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OUTPUTS &amp; APPLICATIONS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Produces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240280" cy="868680"/>
          </a:xfrm>
          <a:prstGeom prst="rect">
            <a:avLst/>
          </a:prstGeom>
          <a:solidFill>
            <a:srgbClr val="162232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99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Speed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325880"/>
            <a:ext cx="2240280" cy="868680"/>
          </a:xfrm>
          <a:prstGeom prst="rect">
            <a:avLst/>
          </a:prstGeom>
          <a:solidFill>
            <a:srgbClr val="162232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2588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99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Radius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2240280" cy="868680"/>
          </a:xfrm>
          <a:prstGeom prst="rect">
            <a:avLst/>
          </a:prstGeom>
          <a:solidFill>
            <a:srgbClr val="162232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3172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04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Altitude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2240280" cy="868680"/>
          </a:xfrm>
          <a:prstGeom prst="rect">
            <a:avLst/>
          </a:prstGeom>
          <a:solidFill>
            <a:srgbClr val="162232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233172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404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Spacing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2240280" cy="868680"/>
          </a:xfrm>
          <a:prstGeom prst="rect">
            <a:avLst/>
          </a:prstGeom>
          <a:solidFill>
            <a:srgbClr val="162232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3756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10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337560"/>
            <a:ext cx="2240280" cy="868680"/>
          </a:xfrm>
          <a:prstGeom prst="rect">
            <a:avLst/>
          </a:prstGeom>
          <a:solidFill>
            <a:srgbClr val="162232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0" y="333756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410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Time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66360" y="1325880"/>
            <a:ext cx="3657600" cy="352044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66360" y="1325880"/>
            <a:ext cx="36576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03520" y="1965960"/>
            <a:ext cx="3383280" cy="502920"/>
          </a:xfrm>
          <a:prstGeom prst="rect">
            <a:avLst/>
          </a:prstGeom>
          <a:solidFill>
            <a:srgbClr val="1B2A3B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22392" y="20848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19933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&amp; Mapping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03520" y="2624328"/>
            <a:ext cx="3383280" cy="502920"/>
          </a:xfrm>
          <a:prstGeom prst="rect">
            <a:avLst/>
          </a:prstGeom>
          <a:solidFill>
            <a:srgbClr val="1B2A3B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2392" y="274320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26517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303520" y="3282696"/>
            <a:ext cx="3383280" cy="502920"/>
          </a:xfrm>
          <a:prstGeom prst="rect">
            <a:avLst/>
          </a:prstGeom>
          <a:solidFill>
            <a:srgbClr val="1B2A3B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22392" y="3401568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3101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Inspection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303520" y="3941064"/>
            <a:ext cx="3383280" cy="502920"/>
          </a:xfrm>
          <a:prstGeom prst="rect">
            <a:avLst/>
          </a:prstGeom>
          <a:solidFill>
            <a:srgbClr val="1B2A3B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22392" y="4059936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39684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 Deployment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 Must Be Physics-Aware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2103120"/>
          </a:xfrm>
          <a:prstGeom prst="rect">
            <a:avLst/>
          </a:prstGeom>
          <a:solidFill>
            <a:srgbClr val="16223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 directly impacts what a drone can realistically achieve on a mission.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2103120"/>
          </a:xfrm>
          <a:prstGeom prst="rect">
            <a:avLst/>
          </a:prstGeom>
          <a:solidFill>
            <a:srgbClr val="162232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It Costs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93852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path planners produce inefficient, unrealistic, and energy-wasteful trajectories.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2743200" cy="2103120"/>
          </a:xfrm>
          <a:prstGeom prst="rect">
            <a:avLst/>
          </a:prstGeom>
          <a:solidFill>
            <a:srgbClr val="16223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25880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Wins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93852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Design-aware planning improves realism, performance, and energy efficiency.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8503920" cy="1097280"/>
          </a:xfrm>
          <a:prstGeom prst="rect">
            <a:avLst/>
          </a:prstGeom>
          <a:solidFill>
            <a:srgbClr val="0077B6">
              <a:alpha val="3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 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framework linking drone mechanical design to mission-level path optimization using physics-based constraints.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Framework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2926080"/>
          </a:xfrm>
          <a:prstGeom prst="rect">
            <a:avLst/>
          </a:prstGeom>
          <a:solidFill>
            <a:srgbClr val="16223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Wind-aware path 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788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speed control during flight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743200" cy="292608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25880"/>
            <a:ext cx="2743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05740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Multi-drone coordination &amp; task splitting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88036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2788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obstacle avoidance integration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2743200" cy="2926080"/>
          </a:xfrm>
          <a:prstGeom prst="rect">
            <a:avLst/>
          </a:prstGeom>
          <a:solidFill>
            <a:srgbClr val="16223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325880"/>
            <a:ext cx="2743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057400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optimization (RL agents)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880360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788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simulation &amp; validation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Design-Aware UAV Path Planning</dc:title>
  <dc:subject>PptxGenJS Presentation</dc:subject>
  <dc:creator>PptxGenJS</dc:creator>
  <cp:lastModifiedBy>PptxGenJS</cp:lastModifiedBy>
  <cp:revision>1</cp:revision>
  <dcterms:created xsi:type="dcterms:W3CDTF">2026-03-23T21:50:49Z</dcterms:created>
  <dcterms:modified xsi:type="dcterms:W3CDTF">2026-03-23T21:50:49Z</dcterms:modified>
</cp:coreProperties>
</file>