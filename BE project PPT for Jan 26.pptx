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56" r:id="rId2"/>
    <p:sldId id="280" r:id="rId3"/>
    <p:sldId id="257" r:id="rId4"/>
    <p:sldId id="258" r:id="rId5"/>
    <p:sldId id="259" r:id="rId6"/>
    <p:sldId id="260" r:id="rId7"/>
    <p:sldId id="261" r:id="rId8"/>
    <p:sldId id="262" r:id="rId9"/>
    <p:sldId id="276" r:id="rId10"/>
    <p:sldId id="281" r:id="rId11"/>
    <p:sldId id="282" r:id="rId12"/>
    <p:sldId id="278" r:id="rId13"/>
    <p:sldId id="279" r:id="rId14"/>
    <p:sldId id="284" r:id="rId15"/>
    <p:sldId id="288" r:id="rId16"/>
    <p:sldId id="289" r:id="rId17"/>
    <p:sldId id="291" r:id="rId18"/>
    <p:sldId id="290" r:id="rId19"/>
    <p:sldId id="265" r:id="rId20"/>
    <p:sldId id="263" r:id="rId21"/>
    <p:sldId id="264" r:id="rId22"/>
    <p:sldId id="273" r:id="rId23"/>
    <p:sldId id="283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123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5" d="100"/>
          <a:sy n="75" d="100"/>
        </p:scale>
        <p:origin x="902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6C0FF6-131C-47F0-9EC0-46C6C161782A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FE7B2A-6248-4006-A15E-04FABEBD53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18235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FE7B2A-6248-4006-A15E-04FABEBD53C0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02779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FE7B2A-6248-4006-A15E-04FABEBD53C0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25306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941643-3EB5-B2B4-13CF-B068771973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C44A79-9120-C1B8-1520-B3720EE6CE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C6A8D4-0820-DDC7-1B16-198CA77430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BF2BD7-5F19-E55B-E646-11C0B22E21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FE7B2A-6248-4006-A15E-04FABEBD53C0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14274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AC4A61-31DC-35A9-B996-CC4422932B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A70930-F855-6A0C-EA6B-20FDF2DB40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9313E8-4334-08A9-7788-A3FA828B6A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7F063E-7A3B-F86D-199E-3E5926A126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FE7B2A-6248-4006-A15E-04FABEBD53C0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59841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AC766F-F162-60DE-8F21-A74B03A29F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F4F303-783E-E3BD-78D7-99AD274274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53B7D7-36C1-2BD0-429A-DF18A85958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774263-EAD5-2206-7A4B-85C9620EB9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FE7B2A-6248-4006-A15E-04FABEBD53C0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10122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150F21-5E36-0C1B-27CA-750EE998B8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0852EE-FD2C-29D6-4601-1C197824D1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052B94-757B-92C6-9D7C-A1C22F2C4A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8076CD-9858-B31D-35BA-3829EFFA2F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FE7B2A-6248-4006-A15E-04FABEBD53C0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44581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2217F7-C225-4014-9257-07A0928158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8B5FD8-635C-A0E5-58D0-3929F72251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69AFB4-84B2-09A6-7350-00067B1DCC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42BC54-4925-00AE-24A8-EF9E8063EF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FE7B2A-6248-4006-A15E-04FABEBD53C0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57863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A9158A-2B11-FA97-FB56-AD324C4DC8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638191-DEF5-F29C-F2A9-AE2AE97A05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A476F6-C4AA-752D-6BE4-80554320E8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F415BC-E1D3-7109-3030-797DBB51E4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FE7B2A-6248-4006-A15E-04FABEBD53C0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257865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C112E6-2564-EAB1-2DAE-9886B7EA49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51ADEA-FA0C-0758-5A16-DEEDE9DF58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53DADB-7735-87C6-7BF5-6D48C2448C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4D5810-69DF-8D09-139A-E0AB76B6A7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FE7B2A-6248-4006-A15E-04FABEBD53C0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350542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591B2A-3807-B8BD-F35B-29DD2D0014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28DFF7-D942-C4A2-8994-E88426A371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552112-140C-F07B-6403-909B64B8EB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FC14D2-54E7-10D8-CA53-F0817FE61B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FE7B2A-6248-4006-A15E-04FABEBD53C0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634625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B50D66-5F61-F7F6-B715-550CDE453D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B64D19-6A3E-221F-FC4A-6A168802CA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AAFC25-3BC5-BF36-3339-BA505F01B6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9A51B6-89E2-84D3-7934-27F54DE1B3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FE7B2A-6248-4006-A15E-04FABEBD53C0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736671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FF15A9-46B0-71B7-B393-C2B93B12FE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F23792-3512-7449-8253-E13601D3C7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3CE144-305D-13D0-A011-323BFABDAF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42D2DF-2C3A-3083-75AA-6A9DF326C0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FE7B2A-6248-4006-A15E-04FABEBD53C0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60619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62009E-658B-FB31-7E15-6B4CC10928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CAA4EA-A7AF-6FB1-0829-002F840ED4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0A185B-4E09-965D-D6F1-40E3DC2578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82EF9-7918-4384-942F-91460768CB04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119985-3409-CCF4-23D1-8D57D6031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E99B75-1190-C865-9BCD-EEE3E3B58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3D0DB-0198-4AA0-B1D8-9C3BF96F18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68186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AE4BB3-BB78-0CF1-D727-79CF1AE7F3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91C203-8C83-C1CB-EA59-1050CCEE28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00DC9C-9880-F6A9-713A-B279C349D3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82EF9-7918-4384-942F-91460768CB04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632A65-0D90-C27E-0EEB-534C62BBAA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BD9197-597F-60F1-1B70-95D43445FD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3D0DB-0198-4AA0-B1D8-9C3BF96F18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43833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7952A-73DA-A868-733B-A639CC61A5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0C8460-91E0-751E-087F-6C55A02120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961DC4-2DEF-6632-0496-85392A73A6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82EF9-7918-4384-942F-91460768CB04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540A6C-70EA-A3F5-B33D-D34814479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298BE5-75C3-A5DC-DB3D-8B1D85387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3D0DB-0198-4AA0-B1D8-9C3BF96F18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90836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D933CC-9D90-C32F-A7B6-86D3C000A3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8AF05F-536D-A743-38F0-FEF56518E9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0BEEBE-BD06-564B-8D7D-FCF19D09EC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665B2E-AE80-EB82-0BDA-C892B5A0B7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82EF9-7918-4384-942F-91460768CB04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D0F076-DEDD-4567-A64D-DC29F8F524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99D566-53C9-6086-D114-4B603EA01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3D0DB-0198-4AA0-B1D8-9C3BF96F18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00157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FD982E-E071-94BE-9A59-9A2E7E15D3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139F90-2C5B-FAC2-DAD6-8513169531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B84667-5A2E-9753-93D0-04FA344382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FF8C694-DC2D-ABF4-0C4D-6A157B1D35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9196BEB-5840-D96C-D3EF-FE1B5B4DE7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85CCB18-02E5-6B7A-DAB7-40A7CB1812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82EF9-7918-4384-942F-91460768CB04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9AAE3AA-1B1D-DBC0-CC7F-6543B9ECD9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C3E7478-7DD8-C31C-4FD6-FB582F55F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3D0DB-0198-4AA0-B1D8-9C3BF96F18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98120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F21D4-7638-AEEE-92CE-A951A49AC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453927-646A-6504-FBB1-2A44ACB8F9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82EF9-7918-4384-942F-91460768CB04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348A71-E172-4DC1-55F1-E5B2A3FC64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F7F8CD-8DDB-3845-10A0-BB13BD1BD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3D0DB-0198-4AA0-B1D8-9C3BF96F18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38490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AFF4349-F5EE-8F2B-C4FD-C8A780037D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82EF9-7918-4384-942F-91460768CB04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FF0C11B-6FCC-2B9A-E5AF-0014DD273A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BD1069-69EC-3475-E267-0E81422B0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3D0DB-0198-4AA0-B1D8-9C3BF96F18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62892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A606BB-B651-31DA-86AF-D938606426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C62FB1-5C0F-E863-0FEE-2C45ADBFA4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0701B3-B82E-DD3E-DFAC-FA88AC5ABC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01424B-291E-99B7-4EF6-E00C64F1C8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82EF9-7918-4384-942F-91460768CB04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F8871C-E317-2DF2-15B3-89F7C692A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8FD704-B15F-5ED6-C076-F471B1DA3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3D0DB-0198-4AA0-B1D8-9C3BF96F18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05409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A58C3-FB00-5E3B-1C1C-CE738D4CC3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7F3668B-4E36-A6D0-E441-3052CC34E5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88A24B-F435-4EE7-4D5D-FF326E4CD6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6DFBB5-A5DD-4075-1C2C-2F58319E4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82EF9-7918-4384-942F-91460768CB04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7326AB-A281-2051-C05D-9CB91C85A8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DD7776-D72D-2EB0-8122-76C366061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3D0DB-0198-4AA0-B1D8-9C3BF96F18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50089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C8A706-5B87-8EC8-31A0-EC5915D10D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389E84-FA9B-F33C-D2B7-8C02C83616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D75AA2-F66A-5E4F-06DE-A4222DFFDF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82EF9-7918-4384-942F-91460768CB04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B329E9-D42E-0CDC-C051-6CAC6B639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6BFC12-6B61-1FAA-C53A-E9DA7917CF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3D0DB-0198-4AA0-B1D8-9C3BF96F18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12148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4B2B80B-3407-337D-541F-875118177A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6FCA9EB-0174-C58C-E5D4-9D03446C10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D597A2-73E4-6573-7EFF-7003AE31AE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82EF9-7918-4384-942F-91460768CB04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6CF4F8-A454-7CA1-1522-1F886A821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C6354D-E22F-A55F-02ED-15C25928FF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3D0DB-0198-4AA0-B1D8-9C3BF96F18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32723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30E36D4-3334-1CD4-2F3D-B31651494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6C1A3C-6F60-BB66-BFFA-93E6AB2EDC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75CED9-168D-8F51-A23C-D04CAB13A9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682EF9-7918-4384-942F-91460768CB04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8010D3-A08E-5801-08A3-A16FC99BDF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BEB11C-5DEE-847E-02BA-36DB003EE0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B3D0DB-0198-4AA0-B1D8-9C3BF96F18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07597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BD5A989-D92F-F3D3-FB41-B4D0C9D52B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4620" y="74173"/>
            <a:ext cx="9382760" cy="1823384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5BAFB25-0776-6F6E-215A-229572B93A3B}"/>
              </a:ext>
            </a:extLst>
          </p:cNvPr>
          <p:cNvSpPr txBox="1"/>
          <p:nvPr/>
        </p:nvSpPr>
        <p:spPr>
          <a:xfrm>
            <a:off x="900906" y="2177157"/>
            <a:ext cx="105968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B.E. Project (402047) </a:t>
            </a:r>
            <a:endParaRPr lang="en-IN" sz="4000" b="1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A53048C-0BDD-D42E-A6BA-7F37C1FCFBF7}"/>
              </a:ext>
            </a:extLst>
          </p:cNvPr>
          <p:cNvSpPr txBox="1"/>
          <p:nvPr/>
        </p:nvSpPr>
        <p:spPr>
          <a:xfrm>
            <a:off x="606900" y="2848558"/>
            <a:ext cx="100407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Group No.: _____			Sponsored / Non- Sponsored : </a:t>
            </a:r>
            <a:endParaRPr lang="en-IN" sz="2000" b="1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5B5CF7-D24A-F44F-86E5-A8DDCD99871B}"/>
              </a:ext>
            </a:extLst>
          </p:cNvPr>
          <p:cNvSpPr txBox="1"/>
          <p:nvPr/>
        </p:nvSpPr>
        <p:spPr>
          <a:xfrm>
            <a:off x="631507" y="3372793"/>
            <a:ext cx="11311572" cy="830997"/>
          </a:xfrm>
          <a:prstGeom prst="rect">
            <a:avLst/>
          </a:prstGeom>
          <a:noFill/>
          <a:ln w="3175">
            <a:solidFill>
              <a:schemeClr val="tx1"/>
            </a:solidFill>
            <a:prstDash val="sysDot"/>
          </a:ln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Title :</a:t>
            </a:r>
            <a:r>
              <a:rPr lang="en-US" sz="24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__________________________________________________ </a:t>
            </a:r>
          </a:p>
          <a:p>
            <a:r>
              <a:rPr lang="en-US" sz="24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_____________________________________________________________ </a:t>
            </a:r>
            <a:endParaRPr lang="en-IN" sz="2400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C643FAE-CC15-B68D-4134-24B992BFB58F}"/>
              </a:ext>
            </a:extLst>
          </p:cNvPr>
          <p:cNvSpPr txBox="1"/>
          <p:nvPr/>
        </p:nvSpPr>
        <p:spPr>
          <a:xfrm>
            <a:off x="640240" y="4826675"/>
            <a:ext cx="467344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Name of Students:</a:t>
            </a:r>
          </a:p>
          <a:p>
            <a:r>
              <a:rPr lang="en-US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 ABC				</a:t>
            </a:r>
          </a:p>
          <a:p>
            <a:r>
              <a:rPr lang="en-US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</a:t>
            </a:r>
          </a:p>
          <a:p>
            <a:r>
              <a:rPr lang="en-US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</a:t>
            </a:r>
          </a:p>
          <a:p>
            <a:r>
              <a:rPr lang="en-US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						</a:t>
            </a:r>
          </a:p>
          <a:p>
            <a:r>
              <a:rPr lang="en-US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IN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lide Number Placeholder 12">
            <a:extLst>
              <a:ext uri="{FF2B5EF4-FFF2-40B4-BE49-F238E27FC236}">
                <a16:creationId xmlns:a16="http://schemas.microsoft.com/office/drawing/2014/main" id="{6E98562E-A6CE-6AF6-D921-57F609440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FD71004A-AFD7-42A5-B6DE-26BE9BFFD18E}" type="slidenum">
              <a:rPr lang="en-IN" smtClean="0"/>
              <a:t>1</a:t>
            </a:fld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17CDAAC-0794-D926-ACE7-29D27BC2F53D}"/>
              </a:ext>
            </a:extLst>
          </p:cNvPr>
          <p:cNvSpPr txBox="1"/>
          <p:nvPr/>
        </p:nvSpPr>
        <p:spPr>
          <a:xfrm>
            <a:off x="5608480" y="4826675"/>
            <a:ext cx="658352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Name of Students from other department: </a:t>
            </a:r>
            <a:r>
              <a:rPr lang="en-US" b="1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 inter/Multi disciplinary project</a:t>
            </a:r>
          </a:p>
          <a:p>
            <a:r>
              <a:rPr lang="en-US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 ………………………………. ( Dept. name)	</a:t>
            </a:r>
          </a:p>
          <a:p>
            <a:r>
              <a:rPr lang="en-US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………………………………. ( Dept. name)	</a:t>
            </a:r>
          </a:p>
          <a:p>
            <a:r>
              <a:rPr lang="en-US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 ………………………………. ( Dept. name)		</a:t>
            </a:r>
          </a:p>
          <a:p>
            <a:r>
              <a:rPr lang="en-US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IN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C3D186A-B7D1-47B3-D436-03ED8083A666}"/>
              </a:ext>
            </a:extLst>
          </p:cNvPr>
          <p:cNvSpPr txBox="1"/>
          <p:nvPr/>
        </p:nvSpPr>
        <p:spPr>
          <a:xfrm>
            <a:off x="743586" y="4284400"/>
            <a:ext cx="96399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1"/>
                </a:solidFill>
              </a:rPr>
              <a:t>Name of Guide : Prof. Dr. ………………………… (</a:t>
            </a:r>
            <a:r>
              <a:rPr lang="en-US" sz="2400" dirty="0">
                <a:solidFill>
                  <a:schemeClr val="accent1"/>
                </a:solidFill>
              </a:rPr>
              <a:t>do not add </a:t>
            </a:r>
            <a:r>
              <a:rPr lang="en-US" sz="2400" b="1" i="1" dirty="0">
                <a:solidFill>
                  <a:schemeClr val="accent1"/>
                </a:solidFill>
              </a:rPr>
              <a:t>Sir</a:t>
            </a:r>
            <a:r>
              <a:rPr lang="en-US" sz="2400" b="1" dirty="0">
                <a:solidFill>
                  <a:schemeClr val="accent1"/>
                </a:solidFill>
              </a:rPr>
              <a:t> </a:t>
            </a:r>
            <a:r>
              <a:rPr lang="en-US" sz="2400" dirty="0">
                <a:solidFill>
                  <a:schemeClr val="accent1"/>
                </a:solidFill>
              </a:rPr>
              <a:t>after the name</a:t>
            </a:r>
            <a:r>
              <a:rPr lang="en-US" sz="2400" b="1" dirty="0">
                <a:solidFill>
                  <a:schemeClr val="accent1"/>
                </a:solidFill>
              </a:rPr>
              <a:t>.</a:t>
            </a:r>
            <a:endParaRPr lang="en-IN" sz="2400" b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65211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D8AC77-5A53-B651-05EB-0BB4F57638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7CE7FA5-0A03-02AF-0571-E904615EAC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4620" y="74173"/>
            <a:ext cx="9382760" cy="1823384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1DF157FF-6064-B079-DB99-689002150A13}"/>
              </a:ext>
            </a:extLst>
          </p:cNvPr>
          <p:cNvSpPr/>
          <p:nvPr/>
        </p:nvSpPr>
        <p:spPr>
          <a:xfrm>
            <a:off x="3210560" y="2082800"/>
            <a:ext cx="5161280" cy="471118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C1A5D85-16F9-9277-169C-F93665626995}"/>
              </a:ext>
            </a:extLst>
          </p:cNvPr>
          <p:cNvSpPr txBox="1"/>
          <p:nvPr/>
        </p:nvSpPr>
        <p:spPr>
          <a:xfrm>
            <a:off x="3860800" y="2296160"/>
            <a:ext cx="4511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Sponsored Certificate in the given format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230519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3C094BC-B60D-6EDF-D2A1-5D1D0CE8CF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613" y="81280"/>
            <a:ext cx="11348773" cy="123952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1204458B-9A48-E50A-F90D-A982F723D9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3271" y="1628507"/>
            <a:ext cx="9854044" cy="36009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</a:rPr>
              <a:t>BE Project Work 				</a:t>
            </a:r>
            <a:endParaRPr lang="en-US" altLang="en-US" sz="2400" b="1" dirty="0">
              <a:solidFill>
                <a:srgbClr val="002060"/>
              </a:solidFill>
              <a:highlight>
                <a:srgbClr val="FFFF00"/>
              </a:highlight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400" b="1" dirty="0">
                <a:solidFill>
                  <a:srgbClr val="002060"/>
                </a:solidFill>
                <a:highlight>
                  <a:srgbClr val="FFFF00"/>
                </a:highlight>
                <a:latin typeface="Arial" panose="020B0604020202020204" pitchFamily="34" charset="0"/>
              </a:rPr>
              <a:t>Objectives: </a:t>
            </a: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rgbClr val="002060"/>
              </a:solidFill>
              <a:effectLst/>
              <a:highlight>
                <a:srgbClr val="FFFF00"/>
              </a:highlight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monitor the initial progress of project groups in a structured manner.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ensure students begin their project work on time and stay focused.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assess the effectiveness of problem identification and understanding of the domain.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encourage teamwork, research skills, and brainstorming in the early stages.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provide an opportunity for early feedback and guidance from guide associated.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help students refine and finalize a technically and practically feasible problem statement.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align project objectives with academic standards and industry relevance.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>
                <a:tab pos="92075" algn="l"/>
              </a:tabLs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promote accountability and systematic project documentation from the start.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build a strong foundation for design, development, and implementation phases ahead.</a:t>
            </a:r>
          </a:p>
        </p:txBody>
      </p:sp>
    </p:spTree>
    <p:extLst>
      <p:ext uri="{BB962C8B-B14F-4D97-AF65-F5344CB8AC3E}">
        <p14:creationId xmlns:p14="http://schemas.microsoft.com/office/powerpoint/2010/main" val="6379313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B5B868-FB2E-275B-C2E3-0F1A22B2BE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605B4C7-9E08-D042-3792-72E56794E1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613" y="81280"/>
            <a:ext cx="11348773" cy="123952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C8E6170-ECF6-177E-0C91-C0B98B5DF233}"/>
              </a:ext>
            </a:extLst>
          </p:cNvPr>
          <p:cNvSpPr txBox="1"/>
          <p:nvPr/>
        </p:nvSpPr>
        <p:spPr>
          <a:xfrm>
            <a:off x="274319" y="1320800"/>
            <a:ext cx="11643360" cy="984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Identification of Problem: </a:t>
            </a:r>
          </a:p>
          <a:p>
            <a:pPr algn="ctr"/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sz="1600" i="1" dirty="0">
                <a:latin typeface="Arial" panose="020B0604020202020204" pitchFamily="34" charset="0"/>
                <a:cs typeface="Arial" panose="020B0604020202020204" pitchFamily="34" charset="0"/>
              </a:rPr>
              <a:t>Write in bullets: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[ Area/domain of interest , How the problem was identified (literature survey, industry visit, </a:t>
            </a:r>
            <a:r>
              <a:rPr lang="en-US" altLang="en-US" sz="1600" dirty="0">
                <a:latin typeface="Arial" panose="020B0604020202020204" pitchFamily="34" charset="0"/>
              </a:rPr>
              <a:t>Online research, Discussions with faculty,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observation, </a:t>
            </a:r>
            <a:r>
              <a:rPr lang="en-US" altLang="en-US" sz="1600" dirty="0">
                <a:latin typeface="Arial" panose="020B0604020202020204" pitchFamily="34" charset="0"/>
              </a:rPr>
              <a:t>Brainstorming sessions within group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etc.), Background context of the problem] 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26672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9B07B0-910C-F692-1A12-38BD79BA92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5FE5E8A-FED7-A84E-A4AB-178337C282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613" y="81280"/>
            <a:ext cx="11348773" cy="123952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F0887B4-4996-4A72-00A9-04C3890A9C6B}"/>
              </a:ext>
            </a:extLst>
          </p:cNvPr>
          <p:cNvSpPr txBox="1"/>
          <p:nvPr/>
        </p:nvSpPr>
        <p:spPr>
          <a:xfrm>
            <a:off x="421612" y="1320800"/>
            <a:ext cx="11038867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Purpose and need (Motivation) of the problem:</a:t>
            </a:r>
          </a:p>
          <a:p>
            <a:endParaRPr lang="en-US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b="1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Write in bullets</a:t>
            </a:r>
          </a:p>
          <a:p>
            <a:r>
              <a:rPr lang="en-US" i="1" strike="sngStrike" dirty="0">
                <a:latin typeface="Arial" panose="020B0604020202020204" pitchFamily="34" charset="0"/>
                <a:cs typeface="Arial" panose="020B0604020202020204" pitchFamily="34" charset="0"/>
              </a:rPr>
              <a:t>The purpose of this section is to clearly define the reason for selecting a specific problem and to justify its significance.</a:t>
            </a:r>
            <a:r>
              <a:rPr lang="en-US" b="1" i="1" strike="sngStrike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IN" b="1" i="1" strike="sngStrike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72866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7DAC1C-4CB2-1D10-BD17-C02F5456D2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0E4E864-1AE1-99C8-2010-5134F37FA8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613" y="81280"/>
            <a:ext cx="11348773" cy="123952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2897908-3706-3272-FDFF-6E9995F20E3D}"/>
              </a:ext>
            </a:extLst>
          </p:cNvPr>
          <p:cNvSpPr txBox="1"/>
          <p:nvPr/>
        </p:nvSpPr>
        <p:spPr>
          <a:xfrm>
            <a:off x="650240" y="1433175"/>
            <a:ext cx="11196320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Gap Identification : </a:t>
            </a:r>
            <a:r>
              <a:rPr lang="en-US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(Pinpointing the differences between the current problem and existing solution/s)</a:t>
            </a:r>
            <a:endParaRPr lang="en-US" b="1" i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i="1" strike="sngStrike" dirty="0">
                <a:latin typeface="Arial" panose="020B0604020202020204" pitchFamily="34" charset="0"/>
                <a:cs typeface="Arial" panose="020B0604020202020204" pitchFamily="34" charset="0"/>
              </a:rPr>
              <a:t>This includes understanding the current challenges, the gap in existing systems or technologies, and how addressing this problem will benefit a particular sector, user group, or process.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53B8B3-2BFD-7604-9CFB-16FBB4B19C12}"/>
              </a:ext>
            </a:extLst>
          </p:cNvPr>
          <p:cNvSpPr txBox="1"/>
          <p:nvPr/>
        </p:nvSpPr>
        <p:spPr>
          <a:xfrm>
            <a:off x="650240" y="4457839"/>
            <a:ext cx="117703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Costs involved and Benefits </a:t>
            </a:r>
            <a:r>
              <a:rPr lang="en-IN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over the existing solution/s</a:t>
            </a:r>
            <a:r>
              <a:rPr lang="en-IN" sz="16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</a:p>
          <a:p>
            <a:r>
              <a:rPr lang="en-IN" sz="1600" b="1" i="1" strike="sngStrike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(do not add estimate of current project compare it with existing solutions cost wise)</a:t>
            </a:r>
            <a:endParaRPr lang="en-IN" b="1" i="1" strike="sngStrike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51592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45838C-1AC9-B910-83E7-A0703F735A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4DF06AE-9791-4016-72DC-87245C3169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613" y="81280"/>
            <a:ext cx="11348773" cy="123952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E930B4A-23F8-FEFF-924C-931687618E8C}"/>
              </a:ext>
            </a:extLst>
          </p:cNvPr>
          <p:cNvSpPr txBox="1"/>
          <p:nvPr/>
        </p:nvSpPr>
        <p:spPr>
          <a:xfrm>
            <a:off x="538480" y="1320800"/>
            <a:ext cx="97028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u="sng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Assumptions and Constraints: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(Use bullets)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(Use bullets)</a:t>
            </a:r>
          </a:p>
          <a:p>
            <a:endParaRPr lang="en-US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b="1" u="sng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Requirements 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List of tools, components, software, and resources likely to be needed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(Use bullets)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(Use bullets)</a:t>
            </a:r>
          </a:p>
          <a:p>
            <a:endParaRPr lang="en-US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b="1" u="sng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Applications / Significance of the Project</a:t>
            </a:r>
            <a:r>
              <a:rPr lang="en-US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(Use bullets)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(Use bullets)</a:t>
            </a:r>
            <a:endParaRPr lang="en-IN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16724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24994A-0E01-2371-A50F-866F8C28B7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5EF2B75-539E-370F-6B42-4E2E23640A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613" y="81280"/>
            <a:ext cx="11348773" cy="123952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0F5DA6E-7E8E-8A4E-F5B8-951D4C2D19A1}"/>
              </a:ext>
            </a:extLst>
          </p:cNvPr>
          <p:cNvSpPr txBox="1"/>
          <p:nvPr/>
        </p:nvSpPr>
        <p:spPr>
          <a:xfrm>
            <a:off x="318762" y="1320800"/>
            <a:ext cx="11554474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Proposed project title :</a:t>
            </a:r>
          </a:p>
          <a:p>
            <a:r>
              <a:rPr lang="en-US" b="1" i="1" dirty="0"/>
              <a:t>Based on (draft /under consideration) problem statement (following the previous slides)</a:t>
            </a:r>
            <a:endParaRPr lang="en-IN" b="1" i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68ADF95-0154-4E29-5FC9-7C8720C5B1E3}"/>
              </a:ext>
            </a:extLst>
          </p:cNvPr>
          <p:cNvSpPr txBox="1"/>
          <p:nvPr/>
        </p:nvSpPr>
        <p:spPr>
          <a:xfrm>
            <a:off x="318762" y="4429205"/>
            <a:ext cx="1111504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Objectives </a:t>
            </a:r>
          </a:p>
          <a:p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(Write objectives based on the current understanding of the problem.)</a:t>
            </a:r>
            <a:endParaRPr lang="en-IN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47233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1246BE-DA65-C2BD-A812-C04C03D96E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B856490-0591-1AE2-CFB9-70E3B0D728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613" y="81280"/>
            <a:ext cx="11348773" cy="123952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1C1DB6B-1A68-05D5-0E34-4BCB224E0F9D}"/>
              </a:ext>
            </a:extLst>
          </p:cNvPr>
          <p:cNvSpPr txBox="1"/>
          <p:nvPr/>
        </p:nvSpPr>
        <p:spPr>
          <a:xfrm>
            <a:off x="554229" y="1443335"/>
            <a:ext cx="10586720" cy="5570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L</a:t>
            </a:r>
            <a:r>
              <a:rPr lang="en-US" sz="2800" b="1" dirty="0">
                <a:solidFill>
                  <a:schemeClr val="accent5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iterature survey and review of </a:t>
            </a:r>
            <a:r>
              <a:rPr lang="en-US" sz="28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Minimum 10 </a:t>
            </a:r>
            <a:r>
              <a:rPr lang="en-US" sz="2800" b="1" dirty="0">
                <a:solidFill>
                  <a:schemeClr val="accent5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research papers </a:t>
            </a:r>
          </a:p>
          <a:p>
            <a:pPr algn="ctr"/>
            <a:r>
              <a:rPr lang="en-US" sz="2400" b="1" dirty="0">
                <a:solidFill>
                  <a:schemeClr val="accent5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(Scopus/SCI Indexed Journals), patents published, or any other technical paper published in an international journal.</a:t>
            </a:r>
            <a:endParaRPr lang="en-US" sz="2400" b="1" dirty="0">
              <a:solidFill>
                <a:schemeClr val="accent5">
                  <a:lumMod val="50000"/>
                </a:schemeClr>
              </a:solidFill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algn="ctr"/>
            <a:endParaRPr lang="en-US" sz="2400" b="1" dirty="0">
              <a:solidFill>
                <a:schemeClr val="accent5">
                  <a:lumMod val="50000"/>
                </a:schemeClr>
              </a:solidFill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Title of the Paper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Author(s) &amp; Year of Publication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Journal / Conference / Publisher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Objective / Purpose of the Study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Methodology / Approach Used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Key Findings / Results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Limitations Identified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Relevance to Proposed Project</a:t>
            </a:r>
          </a:p>
          <a:p>
            <a:endParaRPr lang="en-US" sz="2400" b="1" dirty="0">
              <a:solidFill>
                <a:schemeClr val="accent5">
                  <a:lumMod val="50000"/>
                </a:schemeClr>
              </a:solidFill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US" sz="2400" dirty="0"/>
              <a:t>Use </a:t>
            </a:r>
            <a:r>
              <a:rPr lang="en-US" sz="2400" b="1" dirty="0"/>
              <a:t>one slide per paper</a:t>
            </a:r>
            <a:r>
              <a:rPr lang="en-US" sz="2400" dirty="0"/>
              <a:t> (concise, point form).</a:t>
            </a:r>
            <a:r>
              <a:rPr lang="en-US" sz="2400" b="1" dirty="0">
                <a:solidFill>
                  <a:schemeClr val="accent5">
                    <a:lumMod val="50000"/>
                  </a:schemeClr>
                </a:solidFill>
                <a:effectLst/>
                <a:ea typeface="SimSun" panose="02010600030101010101" pitchFamily="2" charset="-122"/>
              </a:rPr>
              <a:t> </a:t>
            </a:r>
          </a:p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US" sz="2400" b="1" i="1" dirty="0">
                <a:effectLst/>
                <a:ea typeface="SimSun" panose="02010600030101010101" pitchFamily="2" charset="-122"/>
              </a:rPr>
              <a:t>Minimum 10 Quality Research papers to be included with understanding and justification</a:t>
            </a:r>
            <a:r>
              <a:rPr lang="en-US" sz="2400" b="1" i="1" dirty="0">
                <a:solidFill>
                  <a:schemeClr val="accent5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. </a:t>
            </a:r>
            <a:endParaRPr lang="en-IN" sz="2400" b="1" dirty="0">
              <a:solidFill>
                <a:schemeClr val="accent5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18704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649977-64FD-BB48-2E7E-4580CF8DC3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5191935-D08E-CF08-4ABD-0FB5614D4A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613" y="81280"/>
            <a:ext cx="11348773" cy="123952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9957012-4D2A-5F2E-5629-AC87A0C17AC5}"/>
              </a:ext>
            </a:extLst>
          </p:cNvPr>
          <p:cNvSpPr txBox="1"/>
          <p:nvPr/>
        </p:nvSpPr>
        <p:spPr>
          <a:xfrm>
            <a:off x="554229" y="1443335"/>
            <a:ext cx="10586720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L</a:t>
            </a:r>
            <a:r>
              <a:rPr lang="en-US" sz="2800" b="1" dirty="0">
                <a:solidFill>
                  <a:schemeClr val="accent5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iterature survey and review of </a:t>
            </a:r>
            <a:r>
              <a:rPr lang="en-US" sz="28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Minimum 10 </a:t>
            </a:r>
            <a:r>
              <a:rPr lang="en-US" sz="2800" b="1" dirty="0">
                <a:solidFill>
                  <a:schemeClr val="accent5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research papers </a:t>
            </a:r>
          </a:p>
          <a:p>
            <a:pPr algn="ctr"/>
            <a:endParaRPr lang="en-US" sz="2400" b="1" dirty="0">
              <a:solidFill>
                <a:schemeClr val="accent5">
                  <a:lumMod val="50000"/>
                </a:schemeClr>
              </a:solidFill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algn="ctr"/>
            <a:r>
              <a:rPr lang="en-US" sz="2400" b="1" dirty="0">
                <a:solidFill>
                  <a:schemeClr val="accent5">
                    <a:lumMod val="50000"/>
                  </a:schemeClr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SimSun" panose="02010600030101010101" pitchFamily="2" charset="-122"/>
              </a:rPr>
              <a:t>Summery and Analysis of alternatives (Methodologies) 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8E7B62DA-DD94-3F07-3691-946B034764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8804549"/>
              </p:ext>
            </p:extLst>
          </p:nvPr>
        </p:nvGraphicFramePr>
        <p:xfrm>
          <a:off x="462020" y="2705219"/>
          <a:ext cx="11267960" cy="290440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480688">
                  <a:extLst>
                    <a:ext uri="{9D8B030D-6E8A-4147-A177-3AD203B41FA5}">
                      <a16:colId xmlns:a16="http://schemas.microsoft.com/office/drawing/2014/main" val="2356967870"/>
                    </a:ext>
                  </a:extLst>
                </a:gridCol>
                <a:gridCol w="1014931">
                  <a:extLst>
                    <a:ext uri="{9D8B030D-6E8A-4147-A177-3AD203B41FA5}">
                      <a16:colId xmlns:a16="http://schemas.microsoft.com/office/drawing/2014/main" val="3410778072"/>
                    </a:ext>
                  </a:extLst>
                </a:gridCol>
                <a:gridCol w="1829094">
                  <a:extLst>
                    <a:ext uri="{9D8B030D-6E8A-4147-A177-3AD203B41FA5}">
                      <a16:colId xmlns:a16="http://schemas.microsoft.com/office/drawing/2014/main" val="3353804761"/>
                    </a:ext>
                  </a:extLst>
                </a:gridCol>
                <a:gridCol w="3203113">
                  <a:extLst>
                    <a:ext uri="{9D8B030D-6E8A-4147-A177-3AD203B41FA5}">
                      <a16:colId xmlns:a16="http://schemas.microsoft.com/office/drawing/2014/main" val="2034283955"/>
                    </a:ext>
                  </a:extLst>
                </a:gridCol>
                <a:gridCol w="1584960">
                  <a:extLst>
                    <a:ext uri="{9D8B030D-6E8A-4147-A177-3AD203B41FA5}">
                      <a16:colId xmlns:a16="http://schemas.microsoft.com/office/drawing/2014/main" val="2728182427"/>
                    </a:ext>
                  </a:extLst>
                </a:gridCol>
                <a:gridCol w="1422400">
                  <a:extLst>
                    <a:ext uri="{9D8B030D-6E8A-4147-A177-3AD203B41FA5}">
                      <a16:colId xmlns:a16="http://schemas.microsoft.com/office/drawing/2014/main" val="2450100926"/>
                    </a:ext>
                  </a:extLst>
                </a:gridCol>
                <a:gridCol w="1732774">
                  <a:extLst>
                    <a:ext uri="{9D8B030D-6E8A-4147-A177-3AD203B41FA5}">
                      <a16:colId xmlns:a16="http://schemas.microsoft.com/office/drawing/2014/main" val="1920437359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Sr. No</a:t>
                      </a:r>
                      <a:r>
                        <a:rPr lang="en-IN" sz="12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 / Approach</a:t>
                      </a:r>
                      <a:endParaRPr lang="en-IN" sz="1600" b="1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Reference (Author, Year)</a:t>
                      </a:r>
                      <a:endParaRPr lang="en-IN" sz="1600" b="1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Concept / Working Principle</a:t>
                      </a:r>
                      <a:endParaRPr lang="en-IN" sz="1600" b="1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Advantages</a:t>
                      </a:r>
                      <a:endParaRPr lang="en-IN" sz="1600" b="1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Limitations</a:t>
                      </a:r>
                      <a:endParaRPr lang="en-IN" sz="1600" b="1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Suitability to Our Project</a:t>
                      </a:r>
                      <a:endParaRPr lang="en-IN" sz="1600" b="1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31785159"/>
                  </a:ext>
                </a:extLst>
              </a:tr>
              <a:tr h="23557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1</a:t>
                      </a:r>
                      <a:endParaRPr lang="en-IN" sz="1200" kern="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 kern="1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 kern="1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 kern="1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 kern="1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 kern="1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 kern="1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47328306"/>
                  </a:ext>
                </a:extLst>
              </a:tr>
              <a:tr h="23557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2</a:t>
                      </a:r>
                      <a:endParaRPr lang="en-IN" sz="1200" kern="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 kern="1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 kern="1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 kern="1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 kern="1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 kern="1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 kern="1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73060075"/>
                  </a:ext>
                </a:extLst>
              </a:tr>
              <a:tr h="23557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3</a:t>
                      </a:r>
                      <a:endParaRPr lang="en-IN" sz="1200" kern="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 kern="1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 kern="1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 kern="1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 kern="1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 kern="1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 kern="1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45369364"/>
                  </a:ext>
                </a:extLst>
              </a:tr>
              <a:tr h="23557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4</a:t>
                      </a:r>
                      <a:endParaRPr lang="en-IN" sz="1200" kern="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 kern="1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 kern="1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 kern="1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 kern="1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 kern="1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 kern="1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72361414"/>
                  </a:ext>
                </a:extLst>
              </a:tr>
              <a:tr h="23557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5</a:t>
                      </a:r>
                      <a:endParaRPr lang="en-IN" sz="1200" kern="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 kern="1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 kern="1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 kern="1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 kern="1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 kern="1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 kern="1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93455734"/>
                  </a:ext>
                </a:extLst>
              </a:tr>
              <a:tr h="23557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200" kern="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 kern="1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 kern="1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 kern="1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 kern="1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 kern="1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 kern="1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15143368"/>
                  </a:ext>
                </a:extLst>
              </a:tr>
              <a:tr h="23557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200" kern="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 kern="1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 kern="1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 kern="1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 kern="1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 kern="1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 kern="1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48376000"/>
                  </a:ext>
                </a:extLst>
              </a:tr>
              <a:tr h="23557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200" kern="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 kern="1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 kern="1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 kern="1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 kern="1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 kern="1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 kern="1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93909288"/>
                  </a:ext>
                </a:extLst>
              </a:tr>
              <a:tr h="23557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200" kern="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 kern="1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 kern="1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 kern="1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 kern="1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 kern="1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 kern="1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06208788"/>
                  </a:ext>
                </a:extLst>
              </a:tr>
              <a:tr h="23557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200" kern="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 kern="1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 kern="1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 kern="1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 kern="1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 kern="1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 kern="1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556999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511090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BBEE50-0320-DDAA-CE26-2C3BB37786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87E822F-FA6E-2D6C-9A93-3CCCF3F325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613" y="81280"/>
            <a:ext cx="11348773" cy="123952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BEFF834-26DC-7A71-6724-EBC9480416EC}"/>
              </a:ext>
            </a:extLst>
          </p:cNvPr>
          <p:cNvSpPr txBox="1"/>
          <p:nvPr/>
        </p:nvSpPr>
        <p:spPr>
          <a:xfrm>
            <a:off x="554229" y="1443335"/>
            <a:ext cx="105867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Methodology Proposed / Selected with Justification:</a:t>
            </a:r>
          </a:p>
        </p:txBody>
      </p:sp>
    </p:spTree>
    <p:extLst>
      <p:ext uri="{BB962C8B-B14F-4D97-AF65-F5344CB8AC3E}">
        <p14:creationId xmlns:p14="http://schemas.microsoft.com/office/powerpoint/2010/main" val="5947520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3FB043-825E-153E-2A57-60D5795B94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4ABE80E-AC16-24BC-640A-ECE66F1B0C6A}"/>
              </a:ext>
            </a:extLst>
          </p:cNvPr>
          <p:cNvSpPr/>
          <p:nvPr/>
        </p:nvSpPr>
        <p:spPr>
          <a:xfrm>
            <a:off x="304800" y="1366966"/>
            <a:ext cx="6192546" cy="5226874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799504B-BA97-999D-084C-F0E27D997A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613" y="81280"/>
            <a:ext cx="11348773" cy="123952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B41B48A-7E23-B466-B017-ADA5AD630035}"/>
              </a:ext>
            </a:extLst>
          </p:cNvPr>
          <p:cNvSpPr txBox="1"/>
          <p:nvPr/>
        </p:nvSpPr>
        <p:spPr>
          <a:xfrm>
            <a:off x="421613" y="1433790"/>
            <a:ext cx="619254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chemeClr val="accent5">
                    <a:lumMod val="50000"/>
                  </a:schemeClr>
                </a:solidFill>
              </a:rPr>
              <a:t>Scanned copy of Review 1 </a:t>
            </a:r>
          </a:p>
          <a:p>
            <a:pPr algn="ctr"/>
            <a:r>
              <a:rPr lang="en-US" sz="2400" b="1" dirty="0">
                <a:solidFill>
                  <a:schemeClr val="accent5">
                    <a:lumMod val="50000"/>
                  </a:schemeClr>
                </a:solidFill>
              </a:rPr>
              <a:t>Along with comment of the panel members</a:t>
            </a:r>
            <a:endParaRPr lang="en-IN" sz="2400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F4D1605-B7C8-0915-B398-E171398023BA}"/>
              </a:ext>
            </a:extLst>
          </p:cNvPr>
          <p:cNvSpPr txBox="1"/>
          <p:nvPr/>
        </p:nvSpPr>
        <p:spPr>
          <a:xfrm>
            <a:off x="7711440" y="1649233"/>
            <a:ext cx="34645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</a:rPr>
              <a:t>Compliance by the Group</a:t>
            </a:r>
            <a:endParaRPr lang="en-IN" sz="2400" b="1" dirty="0">
              <a:solidFill>
                <a:srgbClr val="002060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F8B69CC-E1C6-4B05-7309-50F52A5EC37E}"/>
              </a:ext>
            </a:extLst>
          </p:cNvPr>
          <p:cNvSpPr/>
          <p:nvPr/>
        </p:nvSpPr>
        <p:spPr>
          <a:xfrm>
            <a:off x="6995134" y="1428818"/>
            <a:ext cx="4815840" cy="522687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11AFA061-F026-1591-39B3-DB0C950F823E}"/>
              </a:ext>
            </a:extLst>
          </p:cNvPr>
          <p:cNvSpPr/>
          <p:nvPr/>
        </p:nvSpPr>
        <p:spPr>
          <a:xfrm>
            <a:off x="6614160" y="3860800"/>
            <a:ext cx="264160" cy="5588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80444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2ABDCB-1C1C-5CD9-208C-9375A0A6CA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232E6E2-0A44-0A50-FE08-4CEA8232F319}"/>
              </a:ext>
            </a:extLst>
          </p:cNvPr>
          <p:cNvSpPr/>
          <p:nvPr/>
        </p:nvSpPr>
        <p:spPr>
          <a:xfrm>
            <a:off x="304800" y="1366966"/>
            <a:ext cx="6192546" cy="5226874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31363AC-5089-A97F-A9D7-99149110D6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613" y="81280"/>
            <a:ext cx="11348773" cy="123952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0DD2967-F602-5150-DA20-73ECD94DB2BE}"/>
              </a:ext>
            </a:extLst>
          </p:cNvPr>
          <p:cNvSpPr txBox="1"/>
          <p:nvPr/>
        </p:nvSpPr>
        <p:spPr>
          <a:xfrm>
            <a:off x="421613" y="1433790"/>
            <a:ext cx="619254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chemeClr val="accent5">
                    <a:lumMod val="50000"/>
                  </a:schemeClr>
                </a:solidFill>
              </a:rPr>
              <a:t>Scanned copy of Review 2</a:t>
            </a:r>
          </a:p>
          <a:p>
            <a:pPr algn="ctr"/>
            <a:r>
              <a:rPr lang="en-US" sz="2400" b="1" dirty="0">
                <a:solidFill>
                  <a:schemeClr val="accent5">
                    <a:lumMod val="50000"/>
                  </a:schemeClr>
                </a:solidFill>
              </a:rPr>
              <a:t>Along with comment of the panel members</a:t>
            </a:r>
            <a:endParaRPr lang="en-IN" sz="2400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7CA7A56-28CC-73BA-CC21-B3DCEF949D16}"/>
              </a:ext>
            </a:extLst>
          </p:cNvPr>
          <p:cNvSpPr txBox="1"/>
          <p:nvPr/>
        </p:nvSpPr>
        <p:spPr>
          <a:xfrm>
            <a:off x="7711440" y="1649233"/>
            <a:ext cx="34645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</a:rPr>
              <a:t>Compliance by the Group</a:t>
            </a:r>
            <a:endParaRPr lang="en-IN" sz="2400" b="1" dirty="0">
              <a:solidFill>
                <a:srgbClr val="002060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962C124-68A0-F0DD-2A10-2A30A7E4A7A3}"/>
              </a:ext>
            </a:extLst>
          </p:cNvPr>
          <p:cNvSpPr/>
          <p:nvPr/>
        </p:nvSpPr>
        <p:spPr>
          <a:xfrm>
            <a:off x="6995134" y="1428818"/>
            <a:ext cx="4815840" cy="522687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7A6201A6-E06D-14DE-D30B-9E39A6C67D57}"/>
              </a:ext>
            </a:extLst>
          </p:cNvPr>
          <p:cNvSpPr/>
          <p:nvPr/>
        </p:nvSpPr>
        <p:spPr>
          <a:xfrm>
            <a:off x="6614160" y="3860800"/>
            <a:ext cx="264160" cy="5588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06058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85C9F3-6AB8-F42C-96BD-C745132204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7010394-68E4-FD5A-6041-08ED414B90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613" y="81280"/>
            <a:ext cx="11348773" cy="123952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1075CD2-2C03-356A-07C2-8C5E16236364}"/>
              </a:ext>
            </a:extLst>
          </p:cNvPr>
          <p:cNvSpPr txBox="1"/>
          <p:nvPr/>
        </p:nvSpPr>
        <p:spPr>
          <a:xfrm>
            <a:off x="615189" y="1229975"/>
            <a:ext cx="1058672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chemeClr val="accent5">
                    <a:lumMod val="50000"/>
                  </a:schemeClr>
                </a:solidFill>
              </a:rPr>
              <a:t>Progress after Project Stage-I</a:t>
            </a:r>
          </a:p>
          <a:p>
            <a:pPr algn="ctr"/>
            <a:r>
              <a:rPr lang="en-US" sz="2400" b="1" dirty="0">
                <a:solidFill>
                  <a:schemeClr val="accent5">
                    <a:lumMod val="50000"/>
                  </a:schemeClr>
                </a:solidFill>
              </a:rPr>
              <a:t> </a:t>
            </a:r>
            <a:endParaRPr lang="en-IN" sz="2400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70432C1-FB20-44D9-A45C-53B2547937C3}"/>
              </a:ext>
            </a:extLst>
          </p:cNvPr>
          <p:cNvSpPr txBox="1"/>
          <p:nvPr/>
        </p:nvSpPr>
        <p:spPr>
          <a:xfrm>
            <a:off x="990091" y="1645473"/>
            <a:ext cx="96520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u="sng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Experimental Set-up / Virtual Model (CAD/CAM/CAE )</a:t>
            </a:r>
          </a:p>
          <a:p>
            <a:r>
              <a:rPr lang="en-US" sz="18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Include details Drawings only (</a:t>
            </a:r>
            <a:r>
              <a:rPr lang="en-US" sz="1800" b="1" dirty="0">
                <a:solidFill>
                  <a:srgbClr val="00B050"/>
                </a:solidFill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your own drawings</a:t>
            </a:r>
            <a:r>
              <a:rPr lang="en-US" sz="18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with all major dimensions)</a:t>
            </a:r>
          </a:p>
          <a:p>
            <a:r>
              <a:rPr lang="en-US" sz="1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 not add images from internet/books/reference materia</a:t>
            </a: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 </a:t>
            </a:r>
            <a:endParaRPr lang="en-US" sz="1800" b="1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28747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96D1AB-90A9-F492-C75B-881D23F057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46C80BB-DDF9-708C-E207-2E63FC2600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613" y="81280"/>
            <a:ext cx="11348773" cy="123952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C92A5E3-96A9-C7A2-2064-7B4E08145954}"/>
              </a:ext>
            </a:extLst>
          </p:cNvPr>
          <p:cNvSpPr txBox="1"/>
          <p:nvPr/>
        </p:nvSpPr>
        <p:spPr>
          <a:xfrm>
            <a:off x="615189" y="1229975"/>
            <a:ext cx="105867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chemeClr val="accent5">
                    <a:lumMod val="50000"/>
                  </a:schemeClr>
                </a:solidFill>
              </a:rPr>
              <a:t>Progress after Project Stage-I </a:t>
            </a:r>
            <a:endParaRPr lang="en-IN" sz="2400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D34405-3AC6-C783-ED91-AF628D68DA8E}"/>
              </a:ext>
            </a:extLst>
          </p:cNvPr>
          <p:cNvSpPr txBox="1"/>
          <p:nvPr/>
        </p:nvSpPr>
        <p:spPr>
          <a:xfrm>
            <a:off x="1287146" y="1691640"/>
            <a:ext cx="82600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u="sng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Experimental Set-up / Virtual Model (CAD/CAM/CAE 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7F684FF-4D2C-D649-AEDB-99F85FD9A3C4}"/>
              </a:ext>
            </a:extLst>
          </p:cNvPr>
          <p:cNvSpPr txBox="1"/>
          <p:nvPr/>
        </p:nvSpPr>
        <p:spPr>
          <a:xfrm>
            <a:off x="883919" y="2269440"/>
            <a:ext cx="104241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Include </a:t>
            </a:r>
            <a:r>
              <a:rPr lang="en-US" sz="1800" b="1" u="sng" dirty="0">
                <a:latin typeface="Arial" panose="020B0604020202020204" pitchFamily="34" charset="0"/>
                <a:cs typeface="Arial" panose="020B0604020202020204" pitchFamily="34" charset="0"/>
              </a:rPr>
              <a:t>photos captured during fabrication, field visit, survey </a:t>
            </a:r>
            <a:r>
              <a:rPr lang="en-US" sz="1800" b="1" u="sng" dirty="0" err="1">
                <a:latin typeface="Arial" panose="020B0604020202020204" pitchFamily="34" charset="0"/>
                <a:cs typeface="Arial" panose="020B0604020202020204" pitchFamily="34" charset="0"/>
              </a:rPr>
              <a:t>etc</a:t>
            </a:r>
            <a:r>
              <a:rPr lang="en-US" sz="1800" b="1" u="sng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( this</a:t>
            </a:r>
            <a:r>
              <a:rPr lang="en-US" sz="20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slide only)</a:t>
            </a:r>
            <a:endParaRPr lang="en-IN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49999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EE7286-9761-1148-69C3-342C882F0B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53FE24A-D4DF-7AA5-A3FC-13073F683C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613" y="81280"/>
            <a:ext cx="11348773" cy="123952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2548DBB-2047-0A38-5AC0-D80329960DB5}"/>
              </a:ext>
            </a:extLst>
          </p:cNvPr>
          <p:cNvSpPr txBox="1"/>
          <p:nvPr/>
        </p:nvSpPr>
        <p:spPr>
          <a:xfrm>
            <a:off x="615189" y="1229975"/>
            <a:ext cx="105867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chemeClr val="accent5">
                    <a:lumMod val="50000"/>
                  </a:schemeClr>
                </a:solidFill>
              </a:rPr>
              <a:t>Progress after Project Stage-I </a:t>
            </a:r>
            <a:endParaRPr lang="en-IN" sz="2400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9C6D7E4-EEF3-648A-5849-F2681EC03F95}"/>
              </a:ext>
            </a:extLst>
          </p:cNvPr>
          <p:cNvSpPr txBox="1"/>
          <p:nvPr/>
        </p:nvSpPr>
        <p:spPr>
          <a:xfrm>
            <a:off x="563880" y="1763117"/>
            <a:ext cx="1106424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Experimental/ Simulation/Analysis work based on Parameters identified </a:t>
            </a:r>
          </a:p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Include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1. </a:t>
            </a:r>
            <a:r>
              <a:rPr lang="en-US" sz="20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Tabular format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for Experimental/ Simulation work parameters and results  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1BA3036-091A-4B6A-3EDA-AAF5A540D969}"/>
              </a:ext>
            </a:extLst>
          </p:cNvPr>
          <p:cNvSpPr txBox="1"/>
          <p:nvPr/>
        </p:nvSpPr>
        <p:spPr>
          <a:xfrm>
            <a:off x="472440" y="4890448"/>
            <a:ext cx="90982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Research Tools used:</a:t>
            </a:r>
            <a:endParaRPr lang="en-IN" sz="2400" b="1" u="sng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39933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18EA46-8D57-EE0F-6F3E-7D9BF7DA84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1A34267-6658-948E-E123-E12E71B6AA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613" y="81280"/>
            <a:ext cx="11348773" cy="123952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DB6214B-6197-A2B1-9184-A75B2282B60F}"/>
              </a:ext>
            </a:extLst>
          </p:cNvPr>
          <p:cNvSpPr txBox="1"/>
          <p:nvPr/>
        </p:nvSpPr>
        <p:spPr>
          <a:xfrm>
            <a:off x="1541120" y="1320800"/>
            <a:ext cx="97427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accent1"/>
                </a:solidFill>
              </a:rPr>
              <a:t>Research paper/ Patent published/ draft</a:t>
            </a:r>
          </a:p>
        </p:txBody>
      </p:sp>
    </p:spTree>
    <p:extLst>
      <p:ext uri="{BB962C8B-B14F-4D97-AF65-F5344CB8AC3E}">
        <p14:creationId xmlns:p14="http://schemas.microsoft.com/office/powerpoint/2010/main" val="14999607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CD6DE6-887E-F0F3-1079-4A8FD263E7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EA6CA83-7A93-E994-6651-525E4D08EE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613" y="81280"/>
            <a:ext cx="11348773" cy="123952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B076033-2C54-3CD3-49DE-D2D20EECD5F4}"/>
              </a:ext>
            </a:extLst>
          </p:cNvPr>
          <p:cNvSpPr txBox="1"/>
          <p:nvPr/>
        </p:nvSpPr>
        <p:spPr>
          <a:xfrm>
            <a:off x="609599" y="1236395"/>
            <a:ext cx="9294055" cy="1908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u="sng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Results analysis: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Include </a:t>
            </a:r>
            <a:r>
              <a:rPr lang="en-IN" sz="2000" dirty="0">
                <a:solidFill>
                  <a:srgbClr val="92D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logical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you have prepared for your project work.. Do not add other literature graphs</a:t>
            </a:r>
          </a:p>
          <a:p>
            <a:pPr marL="342900" indent="-342900">
              <a:buAutoNum type="arabicPeriod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Graphs</a:t>
            </a:r>
          </a:p>
          <a:p>
            <a:pPr marL="342900" indent="-342900">
              <a:buAutoNum type="arabicPeriod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Charts</a:t>
            </a:r>
          </a:p>
          <a:p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94715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A2A530-F4DA-3734-F9AE-1EA1DCB5C1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3791411-803B-1E84-883E-87BFC4C932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613" y="81280"/>
            <a:ext cx="11348773" cy="123952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506785C-792D-076B-EE81-1EBF9D5DD5EB}"/>
              </a:ext>
            </a:extLst>
          </p:cNvPr>
          <p:cNvSpPr txBox="1"/>
          <p:nvPr/>
        </p:nvSpPr>
        <p:spPr>
          <a:xfrm>
            <a:off x="1270000" y="1473200"/>
            <a:ext cx="7366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</a:rPr>
              <a:t>Proposed work plan and expected Outcome : </a:t>
            </a:r>
            <a:endParaRPr lang="en-IN" sz="2400" b="1" dirty="0">
              <a:solidFill>
                <a:srgbClr val="0070C0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A358994-5780-F348-B8CB-8E15ED2873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9808221"/>
              </p:ext>
            </p:extLst>
          </p:nvPr>
        </p:nvGraphicFramePr>
        <p:xfrm>
          <a:off x="640080" y="2162386"/>
          <a:ext cx="9367520" cy="322241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52859">
                  <a:extLst>
                    <a:ext uri="{9D8B030D-6E8A-4147-A177-3AD203B41FA5}">
                      <a16:colId xmlns:a16="http://schemas.microsoft.com/office/drawing/2014/main" val="1569067741"/>
                    </a:ext>
                  </a:extLst>
                </a:gridCol>
                <a:gridCol w="4192154">
                  <a:extLst>
                    <a:ext uri="{9D8B030D-6E8A-4147-A177-3AD203B41FA5}">
                      <a16:colId xmlns:a16="http://schemas.microsoft.com/office/drawing/2014/main" val="3607895270"/>
                    </a:ext>
                  </a:extLst>
                </a:gridCol>
                <a:gridCol w="3122507">
                  <a:extLst>
                    <a:ext uri="{9D8B030D-6E8A-4147-A177-3AD203B41FA5}">
                      <a16:colId xmlns:a16="http://schemas.microsoft.com/office/drawing/2014/main" val="4222585034"/>
                    </a:ext>
                  </a:extLst>
                </a:gridCol>
              </a:tblGrid>
              <a:tr h="537069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7030A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Month</a:t>
                      </a:r>
                      <a:endParaRPr lang="en-IN" b="1" dirty="0">
                        <a:solidFill>
                          <a:srgbClr val="7030A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rgbClr val="7030A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Planned Activities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rgbClr val="7030A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Expected Output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2701123"/>
                  </a:ext>
                </a:extLst>
              </a:tr>
              <a:tr h="53706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rgbClr val="7030A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January 2026</a:t>
                      </a:r>
                      <a:endParaRPr lang="en-IN" b="1" dirty="0">
                        <a:solidFill>
                          <a:srgbClr val="7030A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b="1" dirty="0">
                        <a:solidFill>
                          <a:srgbClr val="7030A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b="1" dirty="0">
                        <a:solidFill>
                          <a:srgbClr val="7030A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437712"/>
                  </a:ext>
                </a:extLst>
              </a:tr>
              <a:tr h="537069">
                <a:tc>
                  <a:txBody>
                    <a:bodyPr/>
                    <a:lstStyle/>
                    <a:p>
                      <a:endParaRPr lang="en-IN" b="1" dirty="0">
                        <a:solidFill>
                          <a:srgbClr val="7030A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b="1">
                        <a:solidFill>
                          <a:srgbClr val="7030A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b="1" dirty="0">
                        <a:solidFill>
                          <a:srgbClr val="7030A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5518121"/>
                  </a:ext>
                </a:extLst>
              </a:tr>
              <a:tr h="537069">
                <a:tc>
                  <a:txBody>
                    <a:bodyPr/>
                    <a:lstStyle/>
                    <a:p>
                      <a:endParaRPr lang="en-IN" b="1" dirty="0">
                        <a:solidFill>
                          <a:srgbClr val="7030A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b="1" dirty="0">
                        <a:solidFill>
                          <a:srgbClr val="7030A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b="1" dirty="0">
                        <a:solidFill>
                          <a:srgbClr val="7030A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8659901"/>
                  </a:ext>
                </a:extLst>
              </a:tr>
              <a:tr h="537069">
                <a:tc>
                  <a:txBody>
                    <a:bodyPr/>
                    <a:lstStyle/>
                    <a:p>
                      <a:endParaRPr lang="en-IN" b="1" dirty="0">
                        <a:solidFill>
                          <a:srgbClr val="7030A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b="1" dirty="0">
                        <a:solidFill>
                          <a:srgbClr val="7030A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b="1" dirty="0">
                        <a:solidFill>
                          <a:srgbClr val="7030A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8983213"/>
                  </a:ext>
                </a:extLst>
              </a:tr>
              <a:tr h="537069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7030A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April 2026</a:t>
                      </a:r>
                      <a:endParaRPr lang="en-IN" b="1" dirty="0">
                        <a:solidFill>
                          <a:srgbClr val="7030A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7030A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Report Submission +….</a:t>
                      </a:r>
                      <a:endParaRPr lang="en-IN" b="1" dirty="0">
                        <a:solidFill>
                          <a:srgbClr val="7030A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b="1" dirty="0">
                        <a:solidFill>
                          <a:srgbClr val="7030A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90990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28658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182F39-F2E5-DCBA-894D-6BDF651F1E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82DC995-F079-88B3-5035-D58994A4A6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613" y="81280"/>
            <a:ext cx="11348773" cy="123952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1712A3A-70C4-3DDB-208C-1BF8A8A25ED7}"/>
              </a:ext>
            </a:extLst>
          </p:cNvPr>
          <p:cNvSpPr txBox="1"/>
          <p:nvPr/>
        </p:nvSpPr>
        <p:spPr>
          <a:xfrm>
            <a:off x="421612" y="1320800"/>
            <a:ext cx="10541027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Roles and Responsibilities (within group)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 the team has divided initial responsibilities among members.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677CB8C-A500-6303-9FD4-3A7A59A075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24106"/>
              </p:ext>
            </p:extLst>
          </p:nvPr>
        </p:nvGraphicFramePr>
        <p:xfrm>
          <a:off x="500634" y="2409579"/>
          <a:ext cx="11048490" cy="262259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60062">
                  <a:extLst>
                    <a:ext uri="{9D8B030D-6E8A-4147-A177-3AD203B41FA5}">
                      <a16:colId xmlns:a16="http://schemas.microsoft.com/office/drawing/2014/main" val="1101928699"/>
                    </a:ext>
                  </a:extLst>
                </a:gridCol>
                <a:gridCol w="3463260">
                  <a:extLst>
                    <a:ext uri="{9D8B030D-6E8A-4147-A177-3AD203B41FA5}">
                      <a16:colId xmlns:a16="http://schemas.microsoft.com/office/drawing/2014/main" val="976434521"/>
                    </a:ext>
                  </a:extLst>
                </a:gridCol>
                <a:gridCol w="3652278">
                  <a:extLst>
                    <a:ext uri="{9D8B030D-6E8A-4147-A177-3AD203B41FA5}">
                      <a16:colId xmlns:a16="http://schemas.microsoft.com/office/drawing/2014/main" val="3924330073"/>
                    </a:ext>
                  </a:extLst>
                </a:gridCol>
                <a:gridCol w="3072890">
                  <a:extLst>
                    <a:ext uri="{9D8B030D-6E8A-4147-A177-3AD203B41FA5}">
                      <a16:colId xmlns:a16="http://schemas.microsoft.com/office/drawing/2014/main" val="3585755097"/>
                    </a:ext>
                  </a:extLst>
                </a:gridCol>
              </a:tblGrid>
              <a:tr h="675628"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Sr. No.</a:t>
                      </a:r>
                      <a:endParaRPr lang="en-IN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Name of Student</a:t>
                      </a:r>
                      <a:endParaRPr lang="en-IN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dirty="0">
                          <a:solidFill>
                            <a:srgbClr val="00B05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Expected Contribution towards Project work</a:t>
                      </a:r>
                      <a:endParaRPr lang="en-IN" b="0" dirty="0">
                        <a:solidFill>
                          <a:srgbClr val="00B05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Work done by the Member </a:t>
                      </a:r>
                      <a:endParaRPr lang="en-IN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5920466"/>
                  </a:ext>
                </a:extLst>
              </a:tr>
              <a:tr h="486741"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IN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Leader</a:t>
                      </a:r>
                      <a:endParaRPr lang="en-IN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202584"/>
                  </a:ext>
                </a:extLst>
              </a:tr>
              <a:tr h="486741"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IN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Member 1</a:t>
                      </a:r>
                      <a:endParaRPr lang="en-IN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8566050"/>
                  </a:ext>
                </a:extLst>
              </a:tr>
              <a:tr h="486741"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IN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Member 2</a:t>
                      </a:r>
                      <a:endParaRPr lang="en-IN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2101598"/>
                  </a:ext>
                </a:extLst>
              </a:tr>
              <a:tr h="486741"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endParaRPr lang="en-IN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21619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705768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4D1C95-0494-2F90-2381-D00E17A327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E84D0A3-1916-7C37-701A-F555D41B43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613" y="81280"/>
            <a:ext cx="11348773" cy="123952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8E2263F-F0C6-0769-95A0-69D0B19ADC04}"/>
              </a:ext>
            </a:extLst>
          </p:cNvPr>
          <p:cNvSpPr txBox="1"/>
          <p:nvPr/>
        </p:nvSpPr>
        <p:spPr>
          <a:xfrm>
            <a:off x="447040" y="1117600"/>
            <a:ext cx="109016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Photographs (Geo-tagged) of the Project work carried till 12</a:t>
            </a:r>
            <a:r>
              <a:rPr lang="en-US" sz="2400" b="1" baseline="300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</a:t>
            </a:r>
            <a:r>
              <a:rPr lang="en-US" sz="24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Jan 2026</a:t>
            </a:r>
          </a:p>
          <a:p>
            <a:r>
              <a:rPr lang="en-US" sz="24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4" name="Slide Number Placeholder 10">
            <a:extLst>
              <a:ext uri="{FF2B5EF4-FFF2-40B4-BE49-F238E27FC236}">
                <a16:creationId xmlns:a16="http://schemas.microsoft.com/office/drawing/2014/main" id="{C711DA65-5126-E2CE-A11B-E339D7B6D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FD71004A-AFD7-42A5-B6DE-26BE9BFFD18E}" type="slidenum">
              <a:rPr lang="en-IN" smtClean="0"/>
              <a:t>21</a:t>
            </a:fld>
            <a:endParaRPr lang="en-IN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FF11098-CEBB-5729-F259-9EBE90807F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0769225"/>
              </p:ext>
            </p:extLst>
          </p:nvPr>
        </p:nvGraphicFramePr>
        <p:xfrm>
          <a:off x="2337127" y="1837898"/>
          <a:ext cx="8128000" cy="4629151"/>
        </p:xfrm>
        <a:graphic>
          <a:graphicData uri="http://schemas.openxmlformats.org/drawingml/2006/table">
            <a:tbl>
              <a:tblPr firstRow="1" bandRow="1"/>
              <a:tblGrid>
                <a:gridCol w="4064000">
                  <a:extLst>
                    <a:ext uri="{9D8B030D-6E8A-4147-A177-3AD203B41FA5}">
                      <a16:colId xmlns:a16="http://schemas.microsoft.com/office/drawing/2014/main" val="145289665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909837627"/>
                    </a:ext>
                  </a:extLst>
                </a:gridCol>
              </a:tblGrid>
              <a:tr h="1571455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1203099"/>
                  </a:ext>
                </a:extLst>
              </a:tr>
              <a:tr h="1528848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7577176"/>
                  </a:ext>
                </a:extLst>
              </a:tr>
              <a:tr h="1528848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62991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4386102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DB74BD-4D4A-B6BC-08F9-6AFE928DF2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99ABBA5-AEA7-4999-58DA-56C0042481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613" y="81280"/>
            <a:ext cx="11348773" cy="123952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EA682AA-E6F0-321C-F00E-9CB6593A1824}"/>
              </a:ext>
            </a:extLst>
          </p:cNvPr>
          <p:cNvSpPr txBox="1"/>
          <p:nvPr/>
        </p:nvSpPr>
        <p:spPr>
          <a:xfrm>
            <a:off x="751840" y="1430496"/>
            <a:ext cx="6096000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References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097532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37F770-D095-2EC4-D85D-078A9344B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84C5434-78F1-AD57-ED7D-7CF7B301BE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613" y="81280"/>
            <a:ext cx="11348773" cy="123952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252B322-E2AF-7F98-60FD-896788918584}"/>
              </a:ext>
            </a:extLst>
          </p:cNvPr>
          <p:cNvSpPr txBox="1"/>
          <p:nvPr/>
        </p:nvSpPr>
        <p:spPr>
          <a:xfrm>
            <a:off x="751840" y="1430496"/>
            <a:ext cx="6096000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Scanned Project Diary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15378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</TotalTime>
  <Words>886</Words>
  <Application>Microsoft Office PowerPoint</Application>
  <PresentationFormat>Widescreen</PresentationFormat>
  <Paragraphs>149</Paragraphs>
  <Slides>23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0" baseType="lpstr">
      <vt:lpstr>SimSun</vt:lpstr>
      <vt:lpstr>Arial</vt:lpstr>
      <vt:lpstr>Calibri</vt:lpstr>
      <vt:lpstr>Calibri Light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Anil Kaldate</dc:creator>
  <cp:lastModifiedBy>Anil Kaldate</cp:lastModifiedBy>
  <cp:revision>24</cp:revision>
  <dcterms:created xsi:type="dcterms:W3CDTF">2025-07-24T10:23:34Z</dcterms:created>
  <dcterms:modified xsi:type="dcterms:W3CDTF">2026-01-11T08:07:30Z</dcterms:modified>
</cp:coreProperties>
</file>