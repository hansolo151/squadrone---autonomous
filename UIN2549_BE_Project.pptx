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80" r:id="rId3"/>
    <p:sldId id="257" r:id="rId4"/>
    <p:sldId id="258" r:id="rId5"/>
    <p:sldId id="259" r:id="rId6"/>
    <p:sldId id="260" r:id="rId7"/>
    <p:sldId id="261" r:id="rId8"/>
    <p:sldId id="262" r:id="rId9"/>
    <p:sldId id="276" r:id="rId10"/>
    <p:sldId id="281" r:id="rId11"/>
    <p:sldId id="282" r:id="rId12"/>
    <p:sldId id="278" r:id="rId13"/>
    <p:sldId id="279" r:id="rId14"/>
    <p:sldId id="284" r:id="rId15"/>
    <p:sldId id="288" r:id="rId16"/>
    <p:sldId id="289" r:id="rId17"/>
    <p:sldId id="291" r:id="rId18"/>
    <p:sldId id="290" r:id="rId19"/>
    <p:sldId id="265" r:id="rId20"/>
    <p:sldId id="263" r:id="rId21"/>
    <p:sldId id="264" r:id="rId22"/>
    <p:sldId id="273" r:id="rId23"/>
    <p:sldId id="28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23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6C0FF6-131C-47F0-9EC0-46C6C161782A}" type="datetimeFigureOut">
              <a:rPr lang="en-IN" smtClean="0"/>
              <a:t>11-01-2026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FE7B2A-6248-4006-A15E-04FABEBD53C0}" type="slidenum">
              <a:rPr lang="en-IN" smtClean="0"/>
              <a:t>‹#›</a:t>
            </a:fld>
            <a:endParaRPr lang="en-IN"/>
          </a:p>
        </p:txBody>
      </p:sp>
    </p:spTree>
    <p:extLst>
      <p:ext uri="{BB962C8B-B14F-4D97-AF65-F5344CB8AC3E}">
        <p14:creationId xmlns:p14="http://schemas.microsoft.com/office/powerpoint/2010/main" val="3711823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41643-3EB5-B2B4-13CF-B068771973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C44A79-9120-C1B8-1520-B3720EE6CE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C6A8D4-0820-DDC7-1B16-198CA77430F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5BF2BD7-5F19-E55B-E646-11C0B22E21BB}"/>
              </a:ext>
            </a:extLst>
          </p:cNvPr>
          <p:cNvSpPr>
            <a:spLocks noGrp="1"/>
          </p:cNvSpPr>
          <p:nvPr>
            <p:ph type="sldNum" sz="quarter" idx="5"/>
          </p:nvPr>
        </p:nvSpPr>
        <p:spPr/>
        <p:txBody>
          <a:bodyPr/>
          <a:lstStyle/>
          <a:p>
            <a:fld id="{39FE7B2A-6248-4006-A15E-04FABEBD53C0}" type="slidenum">
              <a:rPr lang="en-IN" smtClean="0"/>
              <a:t>9</a:t>
            </a:fld>
            <a:endParaRPr lang="en-IN"/>
          </a:p>
        </p:txBody>
      </p:sp>
    </p:spTree>
    <p:extLst>
      <p:ext uri="{BB962C8B-B14F-4D97-AF65-F5344CB8AC3E}">
        <p14:creationId xmlns:p14="http://schemas.microsoft.com/office/powerpoint/2010/main" val="41014274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C4A61-31DC-35A9-B996-CC4422932B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A70930-F855-6A0C-EA6B-20FDF2DB40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9313E8-4334-08A9-7788-A3FA828B6A0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57F063E-7A3B-F86D-199E-3E5926A1261A}"/>
              </a:ext>
            </a:extLst>
          </p:cNvPr>
          <p:cNvSpPr>
            <a:spLocks noGrp="1"/>
          </p:cNvSpPr>
          <p:nvPr>
            <p:ph type="sldNum" sz="quarter" idx="5"/>
          </p:nvPr>
        </p:nvSpPr>
        <p:spPr/>
        <p:txBody>
          <a:bodyPr/>
          <a:lstStyle/>
          <a:p>
            <a:fld id="{39FE7B2A-6248-4006-A15E-04FABEBD53C0}" type="slidenum">
              <a:rPr lang="en-IN" smtClean="0"/>
              <a:t>10</a:t>
            </a:fld>
            <a:endParaRPr lang="en-IN"/>
          </a:p>
        </p:txBody>
      </p:sp>
    </p:spTree>
    <p:extLst>
      <p:ext uri="{BB962C8B-B14F-4D97-AF65-F5344CB8AC3E}">
        <p14:creationId xmlns:p14="http://schemas.microsoft.com/office/powerpoint/2010/main" val="32459841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50F21-5E36-0C1B-27CA-750EE998B8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0852EE-FD2C-29D6-4601-1C197824D1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052B94-757B-92C6-9D7C-A1C22F2C4A7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28076CD-9858-B31D-35BA-3829EFFA2F9B}"/>
              </a:ext>
            </a:extLst>
          </p:cNvPr>
          <p:cNvSpPr>
            <a:spLocks noGrp="1"/>
          </p:cNvSpPr>
          <p:nvPr>
            <p:ph type="sldNum" sz="quarter" idx="5"/>
          </p:nvPr>
        </p:nvSpPr>
        <p:spPr/>
        <p:txBody>
          <a:bodyPr/>
          <a:lstStyle/>
          <a:p>
            <a:fld id="{39FE7B2A-6248-4006-A15E-04FABEBD53C0}" type="slidenum">
              <a:rPr lang="en-IN" smtClean="0"/>
              <a:t>12</a:t>
            </a:fld>
            <a:endParaRPr lang="en-IN"/>
          </a:p>
        </p:txBody>
      </p:sp>
    </p:spTree>
    <p:extLst>
      <p:ext uri="{BB962C8B-B14F-4D97-AF65-F5344CB8AC3E}">
        <p14:creationId xmlns:p14="http://schemas.microsoft.com/office/powerpoint/2010/main" val="23444581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217F7-C225-4014-9257-07A0928158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8B5FD8-635C-A0E5-58D0-3929F72251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69AFB4-84B2-09A6-7350-00067B1DCC9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A42BC54-4925-00AE-24A8-EF9E8063EF45}"/>
              </a:ext>
            </a:extLst>
          </p:cNvPr>
          <p:cNvSpPr>
            <a:spLocks noGrp="1"/>
          </p:cNvSpPr>
          <p:nvPr>
            <p:ph type="sldNum" sz="quarter" idx="5"/>
          </p:nvPr>
        </p:nvSpPr>
        <p:spPr/>
        <p:txBody>
          <a:bodyPr/>
          <a:lstStyle/>
          <a:p>
            <a:fld id="{39FE7B2A-6248-4006-A15E-04FABEBD53C0}" type="slidenum">
              <a:rPr lang="en-IN" smtClean="0"/>
              <a:t>13</a:t>
            </a:fld>
            <a:endParaRPr lang="en-IN"/>
          </a:p>
        </p:txBody>
      </p:sp>
    </p:spTree>
    <p:extLst>
      <p:ext uri="{BB962C8B-B14F-4D97-AF65-F5344CB8AC3E}">
        <p14:creationId xmlns:p14="http://schemas.microsoft.com/office/powerpoint/2010/main" val="3655786343"/>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2009E-658B-FB31-7E15-6B4CC10928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4CAA4EA-A7AF-6FB1-0829-002F840ED4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90A185B-4E09-965D-D6F1-40E3DC2578C5}"/>
              </a:ext>
            </a:extLst>
          </p:cNvPr>
          <p:cNvSpPr>
            <a:spLocks noGrp="1"/>
          </p:cNvSpPr>
          <p:nvPr>
            <p:ph type="dt" sz="half" idx="10"/>
          </p:nvPr>
        </p:nvSpPr>
        <p:spPr/>
        <p:txBody>
          <a:bodyPr/>
          <a:lstStyle/>
          <a:p>
            <a:fld id="{9E682EF9-7918-4384-942F-91460768CB04}" type="datetimeFigureOut">
              <a:rPr lang="en-IN" smtClean="0"/>
              <a:t>11-01-2026</a:t>
            </a:fld>
            <a:endParaRPr lang="en-IN"/>
          </a:p>
        </p:txBody>
      </p:sp>
      <p:sp>
        <p:nvSpPr>
          <p:cNvPr id="5" name="Footer Placeholder 4">
            <a:extLst>
              <a:ext uri="{FF2B5EF4-FFF2-40B4-BE49-F238E27FC236}">
                <a16:creationId xmlns:a16="http://schemas.microsoft.com/office/drawing/2014/main" id="{55119985-3409-CCF4-23D1-8D57D6031B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E99B75-1190-C865-9BCD-EEE3E3B5834F}"/>
              </a:ext>
            </a:extLst>
          </p:cNvPr>
          <p:cNvSpPr>
            <a:spLocks noGrp="1"/>
          </p:cNvSpPr>
          <p:nvPr>
            <p:ph type="sldNum" sz="quarter" idx="12"/>
          </p:nvPr>
        </p:nvSpPr>
        <p:spPr/>
        <p:txBody>
          <a:bodyPr/>
          <a:lstStyle/>
          <a:p>
            <a:fld id="{F8B3D0DB-0198-4AA0-B1D8-9C3BF96F18C7}" type="slidenum">
              <a:rPr lang="en-IN" smtClean="0"/>
              <a:t>‹#›</a:t>
            </a:fld>
            <a:endParaRPr lang="en-IN"/>
          </a:p>
        </p:txBody>
      </p:sp>
    </p:spTree>
    <p:extLst>
      <p:ext uri="{BB962C8B-B14F-4D97-AF65-F5344CB8AC3E}">
        <p14:creationId xmlns:p14="http://schemas.microsoft.com/office/powerpoint/2010/main" val="3876818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E4BB3-BB78-0CF1-D727-79CF1AE7F3D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191C203-8C83-C1CB-EA59-1050CCEE28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00DC9C-9880-F6A9-713A-B279C349D317}"/>
              </a:ext>
            </a:extLst>
          </p:cNvPr>
          <p:cNvSpPr>
            <a:spLocks noGrp="1"/>
          </p:cNvSpPr>
          <p:nvPr>
            <p:ph type="dt" sz="half" idx="10"/>
          </p:nvPr>
        </p:nvSpPr>
        <p:spPr/>
        <p:txBody>
          <a:bodyPr/>
          <a:lstStyle/>
          <a:p>
            <a:fld id="{9E682EF9-7918-4384-942F-91460768CB04}" type="datetimeFigureOut">
              <a:rPr lang="en-IN" smtClean="0"/>
              <a:t>11-01-2026</a:t>
            </a:fld>
            <a:endParaRPr lang="en-IN"/>
          </a:p>
        </p:txBody>
      </p:sp>
      <p:sp>
        <p:nvSpPr>
          <p:cNvPr id="5" name="Footer Placeholder 4">
            <a:extLst>
              <a:ext uri="{FF2B5EF4-FFF2-40B4-BE49-F238E27FC236}">
                <a16:creationId xmlns:a16="http://schemas.microsoft.com/office/drawing/2014/main" id="{67632A65-0D90-C27E-0EEB-534C62BBAA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BD9197-597F-60F1-1B70-95D43445FD14}"/>
              </a:ext>
            </a:extLst>
          </p:cNvPr>
          <p:cNvSpPr>
            <a:spLocks noGrp="1"/>
          </p:cNvSpPr>
          <p:nvPr>
            <p:ph type="sldNum" sz="quarter" idx="12"/>
          </p:nvPr>
        </p:nvSpPr>
        <p:spPr/>
        <p:txBody>
          <a:bodyPr/>
          <a:lstStyle/>
          <a:p>
            <a:fld id="{F8B3D0DB-0198-4AA0-B1D8-9C3BF96F18C7}" type="slidenum">
              <a:rPr lang="en-IN" smtClean="0"/>
              <a:t>‹#›</a:t>
            </a:fld>
            <a:endParaRPr lang="en-IN"/>
          </a:p>
        </p:txBody>
      </p:sp>
    </p:spTree>
    <p:extLst>
      <p:ext uri="{BB962C8B-B14F-4D97-AF65-F5344CB8AC3E}">
        <p14:creationId xmlns:p14="http://schemas.microsoft.com/office/powerpoint/2010/main" val="1064383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7952A-73DA-A868-733B-A639CC61A5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A0C8460-91E0-751E-087F-6C55A021200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A961DC4-2DEF-6632-0496-85392A73A6F8}"/>
              </a:ext>
            </a:extLst>
          </p:cNvPr>
          <p:cNvSpPr>
            <a:spLocks noGrp="1"/>
          </p:cNvSpPr>
          <p:nvPr>
            <p:ph type="dt" sz="half" idx="10"/>
          </p:nvPr>
        </p:nvSpPr>
        <p:spPr/>
        <p:txBody>
          <a:bodyPr/>
          <a:lstStyle/>
          <a:p>
            <a:fld id="{9E682EF9-7918-4384-942F-91460768CB04}" type="datetimeFigureOut">
              <a:rPr lang="en-IN" smtClean="0"/>
              <a:t>11-01-2026</a:t>
            </a:fld>
            <a:endParaRPr lang="en-IN"/>
          </a:p>
        </p:txBody>
      </p:sp>
      <p:sp>
        <p:nvSpPr>
          <p:cNvPr id="5" name="Footer Placeholder 4">
            <a:extLst>
              <a:ext uri="{FF2B5EF4-FFF2-40B4-BE49-F238E27FC236}">
                <a16:creationId xmlns:a16="http://schemas.microsoft.com/office/drawing/2014/main" id="{A0540A6C-70EA-A3F5-B33D-D348144793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298BE5-75C3-A5DC-DB3D-8B1D85387178}"/>
              </a:ext>
            </a:extLst>
          </p:cNvPr>
          <p:cNvSpPr>
            <a:spLocks noGrp="1"/>
          </p:cNvSpPr>
          <p:nvPr>
            <p:ph type="sldNum" sz="quarter" idx="12"/>
          </p:nvPr>
        </p:nvSpPr>
        <p:spPr/>
        <p:txBody>
          <a:bodyPr/>
          <a:lstStyle/>
          <a:p>
            <a:fld id="{F8B3D0DB-0198-4AA0-B1D8-9C3BF96F18C7}" type="slidenum">
              <a:rPr lang="en-IN" smtClean="0"/>
              <a:t>‹#›</a:t>
            </a:fld>
            <a:endParaRPr lang="en-IN"/>
          </a:p>
        </p:txBody>
      </p:sp>
    </p:spTree>
    <p:extLst>
      <p:ext uri="{BB962C8B-B14F-4D97-AF65-F5344CB8AC3E}">
        <p14:creationId xmlns:p14="http://schemas.microsoft.com/office/powerpoint/2010/main" val="3809083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933CC-9D90-C32F-A7B6-86D3C000A33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8AF05F-536D-A743-38F0-FEF56518E9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40BEEBE-BD06-564B-8D7D-FCF19D09EC6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2665B2E-AE80-EB82-0BDA-C892B5A0B7B3}"/>
              </a:ext>
            </a:extLst>
          </p:cNvPr>
          <p:cNvSpPr>
            <a:spLocks noGrp="1"/>
          </p:cNvSpPr>
          <p:nvPr>
            <p:ph type="dt" sz="half" idx="10"/>
          </p:nvPr>
        </p:nvSpPr>
        <p:spPr/>
        <p:txBody>
          <a:bodyPr/>
          <a:lstStyle/>
          <a:p>
            <a:fld id="{9E682EF9-7918-4384-942F-91460768CB04}" type="datetimeFigureOut">
              <a:rPr lang="en-IN" smtClean="0"/>
              <a:t>11-01-2026</a:t>
            </a:fld>
            <a:endParaRPr lang="en-IN"/>
          </a:p>
        </p:txBody>
      </p:sp>
      <p:sp>
        <p:nvSpPr>
          <p:cNvPr id="6" name="Footer Placeholder 5">
            <a:extLst>
              <a:ext uri="{FF2B5EF4-FFF2-40B4-BE49-F238E27FC236}">
                <a16:creationId xmlns:a16="http://schemas.microsoft.com/office/drawing/2014/main" id="{53D0F076-DEDD-4567-A64D-DC29F8F524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F99D566-53C9-6086-D114-4B603EA01153}"/>
              </a:ext>
            </a:extLst>
          </p:cNvPr>
          <p:cNvSpPr>
            <a:spLocks noGrp="1"/>
          </p:cNvSpPr>
          <p:nvPr>
            <p:ph type="sldNum" sz="quarter" idx="12"/>
          </p:nvPr>
        </p:nvSpPr>
        <p:spPr/>
        <p:txBody>
          <a:bodyPr/>
          <a:lstStyle/>
          <a:p>
            <a:fld id="{F8B3D0DB-0198-4AA0-B1D8-9C3BF96F18C7}" type="slidenum">
              <a:rPr lang="en-IN" smtClean="0"/>
              <a:t>‹#›</a:t>
            </a:fld>
            <a:endParaRPr lang="en-IN"/>
          </a:p>
        </p:txBody>
      </p:sp>
    </p:spTree>
    <p:extLst>
      <p:ext uri="{BB962C8B-B14F-4D97-AF65-F5344CB8AC3E}">
        <p14:creationId xmlns:p14="http://schemas.microsoft.com/office/powerpoint/2010/main" val="2760015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D982E-E071-94BE-9A59-9A2E7E15D34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7139F90-2C5B-FAC2-DAD6-8513169531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B84667-5A2E-9753-93D0-04FA3443828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FF8C694-DC2D-ABF4-0C4D-6A157B1D35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196BEB-5840-D96C-D3EF-FE1B5B4DE7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85CCB18-02E5-6B7A-DAB7-40A7CB181231}"/>
              </a:ext>
            </a:extLst>
          </p:cNvPr>
          <p:cNvSpPr>
            <a:spLocks noGrp="1"/>
          </p:cNvSpPr>
          <p:nvPr>
            <p:ph type="dt" sz="half" idx="10"/>
          </p:nvPr>
        </p:nvSpPr>
        <p:spPr/>
        <p:txBody>
          <a:bodyPr/>
          <a:lstStyle/>
          <a:p>
            <a:fld id="{9E682EF9-7918-4384-942F-91460768CB04}" type="datetimeFigureOut">
              <a:rPr lang="en-IN" smtClean="0"/>
              <a:t>11-01-2026</a:t>
            </a:fld>
            <a:endParaRPr lang="en-IN"/>
          </a:p>
        </p:txBody>
      </p:sp>
      <p:sp>
        <p:nvSpPr>
          <p:cNvPr id="8" name="Footer Placeholder 7">
            <a:extLst>
              <a:ext uri="{FF2B5EF4-FFF2-40B4-BE49-F238E27FC236}">
                <a16:creationId xmlns:a16="http://schemas.microsoft.com/office/drawing/2014/main" id="{B9AAE3AA-1B1D-DBC0-CC7F-6543B9ECD95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C3E7478-7DD8-C31C-4FD6-FB582F55F6F7}"/>
              </a:ext>
            </a:extLst>
          </p:cNvPr>
          <p:cNvSpPr>
            <a:spLocks noGrp="1"/>
          </p:cNvSpPr>
          <p:nvPr>
            <p:ph type="sldNum" sz="quarter" idx="12"/>
          </p:nvPr>
        </p:nvSpPr>
        <p:spPr/>
        <p:txBody>
          <a:bodyPr/>
          <a:lstStyle/>
          <a:p>
            <a:fld id="{F8B3D0DB-0198-4AA0-B1D8-9C3BF96F18C7}" type="slidenum">
              <a:rPr lang="en-IN" smtClean="0"/>
              <a:t>‹#›</a:t>
            </a:fld>
            <a:endParaRPr lang="en-IN"/>
          </a:p>
        </p:txBody>
      </p:sp>
    </p:spTree>
    <p:extLst>
      <p:ext uri="{BB962C8B-B14F-4D97-AF65-F5344CB8AC3E}">
        <p14:creationId xmlns:p14="http://schemas.microsoft.com/office/powerpoint/2010/main" val="1489812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F21D4-7638-AEEE-92CE-A951A49AC21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0453927-646A-6504-FBB1-2A44ACB8F9D8}"/>
              </a:ext>
            </a:extLst>
          </p:cNvPr>
          <p:cNvSpPr>
            <a:spLocks noGrp="1"/>
          </p:cNvSpPr>
          <p:nvPr>
            <p:ph type="dt" sz="half" idx="10"/>
          </p:nvPr>
        </p:nvSpPr>
        <p:spPr/>
        <p:txBody>
          <a:bodyPr/>
          <a:lstStyle/>
          <a:p>
            <a:fld id="{9E682EF9-7918-4384-942F-91460768CB04}" type="datetimeFigureOut">
              <a:rPr lang="en-IN" smtClean="0"/>
              <a:t>11-01-2026</a:t>
            </a:fld>
            <a:endParaRPr lang="en-IN"/>
          </a:p>
        </p:txBody>
      </p:sp>
      <p:sp>
        <p:nvSpPr>
          <p:cNvPr id="4" name="Footer Placeholder 3">
            <a:extLst>
              <a:ext uri="{FF2B5EF4-FFF2-40B4-BE49-F238E27FC236}">
                <a16:creationId xmlns:a16="http://schemas.microsoft.com/office/drawing/2014/main" id="{35348A71-E172-4DC1-55F1-E5B2A3FC64F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8F7F8CD-8DDB-3845-10A0-BB13BD1BD8D0}"/>
              </a:ext>
            </a:extLst>
          </p:cNvPr>
          <p:cNvSpPr>
            <a:spLocks noGrp="1"/>
          </p:cNvSpPr>
          <p:nvPr>
            <p:ph type="sldNum" sz="quarter" idx="12"/>
          </p:nvPr>
        </p:nvSpPr>
        <p:spPr/>
        <p:txBody>
          <a:bodyPr/>
          <a:lstStyle/>
          <a:p>
            <a:fld id="{F8B3D0DB-0198-4AA0-B1D8-9C3BF96F18C7}" type="slidenum">
              <a:rPr lang="en-IN" smtClean="0"/>
              <a:t>‹#›</a:t>
            </a:fld>
            <a:endParaRPr lang="en-IN"/>
          </a:p>
        </p:txBody>
      </p:sp>
    </p:spTree>
    <p:extLst>
      <p:ext uri="{BB962C8B-B14F-4D97-AF65-F5344CB8AC3E}">
        <p14:creationId xmlns:p14="http://schemas.microsoft.com/office/powerpoint/2010/main" val="2633849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FF4349-F5EE-8F2B-C4FD-C8A780037DD9}"/>
              </a:ext>
            </a:extLst>
          </p:cNvPr>
          <p:cNvSpPr>
            <a:spLocks noGrp="1"/>
          </p:cNvSpPr>
          <p:nvPr>
            <p:ph type="dt" sz="half" idx="10"/>
          </p:nvPr>
        </p:nvSpPr>
        <p:spPr/>
        <p:txBody>
          <a:bodyPr/>
          <a:lstStyle/>
          <a:p>
            <a:fld id="{9E682EF9-7918-4384-942F-91460768CB04}" type="datetimeFigureOut">
              <a:rPr lang="en-IN" smtClean="0"/>
              <a:t>11-01-2026</a:t>
            </a:fld>
            <a:endParaRPr lang="en-IN"/>
          </a:p>
        </p:txBody>
      </p:sp>
      <p:sp>
        <p:nvSpPr>
          <p:cNvPr id="3" name="Footer Placeholder 2">
            <a:extLst>
              <a:ext uri="{FF2B5EF4-FFF2-40B4-BE49-F238E27FC236}">
                <a16:creationId xmlns:a16="http://schemas.microsoft.com/office/drawing/2014/main" id="{AFF0C11B-6FCC-2B9A-E5AF-0014DD273A6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1BD1069-69EC-3475-E267-0E81422B0AB3}"/>
              </a:ext>
            </a:extLst>
          </p:cNvPr>
          <p:cNvSpPr>
            <a:spLocks noGrp="1"/>
          </p:cNvSpPr>
          <p:nvPr>
            <p:ph type="sldNum" sz="quarter" idx="12"/>
          </p:nvPr>
        </p:nvSpPr>
        <p:spPr/>
        <p:txBody>
          <a:bodyPr/>
          <a:lstStyle/>
          <a:p>
            <a:fld id="{F8B3D0DB-0198-4AA0-B1D8-9C3BF96F18C7}" type="slidenum">
              <a:rPr lang="en-IN" smtClean="0"/>
              <a:t>‹#›</a:t>
            </a:fld>
            <a:endParaRPr lang="en-IN"/>
          </a:p>
        </p:txBody>
      </p:sp>
    </p:spTree>
    <p:extLst>
      <p:ext uri="{BB962C8B-B14F-4D97-AF65-F5344CB8AC3E}">
        <p14:creationId xmlns:p14="http://schemas.microsoft.com/office/powerpoint/2010/main" val="7962892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606BB-B651-31DA-86AF-D938606426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2C62FB1-5C0F-E863-0FEE-2C45ADBFA4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00701B3-B82E-DD3E-DFAC-FA88AC5ABC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01424B-291E-99B7-4EF6-E00C64F1C88F}"/>
              </a:ext>
            </a:extLst>
          </p:cNvPr>
          <p:cNvSpPr>
            <a:spLocks noGrp="1"/>
          </p:cNvSpPr>
          <p:nvPr>
            <p:ph type="dt" sz="half" idx="10"/>
          </p:nvPr>
        </p:nvSpPr>
        <p:spPr/>
        <p:txBody>
          <a:bodyPr/>
          <a:lstStyle/>
          <a:p>
            <a:fld id="{9E682EF9-7918-4384-942F-91460768CB04}" type="datetimeFigureOut">
              <a:rPr lang="en-IN" smtClean="0"/>
              <a:t>11-01-2026</a:t>
            </a:fld>
            <a:endParaRPr lang="en-IN"/>
          </a:p>
        </p:txBody>
      </p:sp>
      <p:sp>
        <p:nvSpPr>
          <p:cNvPr id="6" name="Footer Placeholder 5">
            <a:extLst>
              <a:ext uri="{FF2B5EF4-FFF2-40B4-BE49-F238E27FC236}">
                <a16:creationId xmlns:a16="http://schemas.microsoft.com/office/drawing/2014/main" id="{B6F8871C-E317-2DF2-15B3-89F7C692A7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E8FD704-B15F-5ED6-C076-F471B1DA3D1B}"/>
              </a:ext>
            </a:extLst>
          </p:cNvPr>
          <p:cNvSpPr>
            <a:spLocks noGrp="1"/>
          </p:cNvSpPr>
          <p:nvPr>
            <p:ph type="sldNum" sz="quarter" idx="12"/>
          </p:nvPr>
        </p:nvSpPr>
        <p:spPr/>
        <p:txBody>
          <a:bodyPr/>
          <a:lstStyle/>
          <a:p>
            <a:fld id="{F8B3D0DB-0198-4AA0-B1D8-9C3BF96F18C7}" type="slidenum">
              <a:rPr lang="en-IN" smtClean="0"/>
              <a:t>‹#›</a:t>
            </a:fld>
            <a:endParaRPr lang="en-IN"/>
          </a:p>
        </p:txBody>
      </p:sp>
    </p:spTree>
    <p:extLst>
      <p:ext uri="{BB962C8B-B14F-4D97-AF65-F5344CB8AC3E}">
        <p14:creationId xmlns:p14="http://schemas.microsoft.com/office/powerpoint/2010/main" val="2770540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A58C3-FB00-5E3B-1C1C-CE738D4CC3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7F3668B-4E36-A6D0-E441-3052CC34E5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688A24B-F435-4EE7-4D5D-FF326E4CD6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6DFBB5-A5DD-4075-1C2C-2F58319E4DC9}"/>
              </a:ext>
            </a:extLst>
          </p:cNvPr>
          <p:cNvSpPr>
            <a:spLocks noGrp="1"/>
          </p:cNvSpPr>
          <p:nvPr>
            <p:ph type="dt" sz="half" idx="10"/>
          </p:nvPr>
        </p:nvSpPr>
        <p:spPr/>
        <p:txBody>
          <a:bodyPr/>
          <a:lstStyle/>
          <a:p>
            <a:fld id="{9E682EF9-7918-4384-942F-91460768CB04}" type="datetimeFigureOut">
              <a:rPr lang="en-IN" smtClean="0"/>
              <a:t>11-01-2026</a:t>
            </a:fld>
            <a:endParaRPr lang="en-IN"/>
          </a:p>
        </p:txBody>
      </p:sp>
      <p:sp>
        <p:nvSpPr>
          <p:cNvPr id="6" name="Footer Placeholder 5">
            <a:extLst>
              <a:ext uri="{FF2B5EF4-FFF2-40B4-BE49-F238E27FC236}">
                <a16:creationId xmlns:a16="http://schemas.microsoft.com/office/drawing/2014/main" id="{487326AB-A281-2051-C05D-9CB91C85A80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BDD7776-D72D-2EB0-8122-76C366061F4E}"/>
              </a:ext>
            </a:extLst>
          </p:cNvPr>
          <p:cNvSpPr>
            <a:spLocks noGrp="1"/>
          </p:cNvSpPr>
          <p:nvPr>
            <p:ph type="sldNum" sz="quarter" idx="12"/>
          </p:nvPr>
        </p:nvSpPr>
        <p:spPr/>
        <p:txBody>
          <a:bodyPr/>
          <a:lstStyle/>
          <a:p>
            <a:fld id="{F8B3D0DB-0198-4AA0-B1D8-9C3BF96F18C7}" type="slidenum">
              <a:rPr lang="en-IN" smtClean="0"/>
              <a:t>‹#›</a:t>
            </a:fld>
            <a:endParaRPr lang="en-IN"/>
          </a:p>
        </p:txBody>
      </p:sp>
    </p:spTree>
    <p:extLst>
      <p:ext uri="{BB962C8B-B14F-4D97-AF65-F5344CB8AC3E}">
        <p14:creationId xmlns:p14="http://schemas.microsoft.com/office/powerpoint/2010/main" val="985008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8A706-5B87-8EC8-31A0-EC5915D10D9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5389E84-FA9B-F33C-D2B7-8C02C83616D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5D75AA2-F66A-5E4F-06DE-A4222DFFDFBF}"/>
              </a:ext>
            </a:extLst>
          </p:cNvPr>
          <p:cNvSpPr>
            <a:spLocks noGrp="1"/>
          </p:cNvSpPr>
          <p:nvPr>
            <p:ph type="dt" sz="half" idx="10"/>
          </p:nvPr>
        </p:nvSpPr>
        <p:spPr/>
        <p:txBody>
          <a:bodyPr/>
          <a:lstStyle/>
          <a:p>
            <a:fld id="{9E682EF9-7918-4384-942F-91460768CB04}" type="datetimeFigureOut">
              <a:rPr lang="en-IN" smtClean="0"/>
              <a:t>11-01-2026</a:t>
            </a:fld>
            <a:endParaRPr lang="en-IN"/>
          </a:p>
        </p:txBody>
      </p:sp>
      <p:sp>
        <p:nvSpPr>
          <p:cNvPr id="5" name="Footer Placeholder 4">
            <a:extLst>
              <a:ext uri="{FF2B5EF4-FFF2-40B4-BE49-F238E27FC236}">
                <a16:creationId xmlns:a16="http://schemas.microsoft.com/office/drawing/2014/main" id="{B4B329E9-D42E-0CDC-C051-6CAC6B6397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6BFC12-6B61-1FAA-C53A-E9DA7917CF92}"/>
              </a:ext>
            </a:extLst>
          </p:cNvPr>
          <p:cNvSpPr>
            <a:spLocks noGrp="1"/>
          </p:cNvSpPr>
          <p:nvPr>
            <p:ph type="sldNum" sz="quarter" idx="12"/>
          </p:nvPr>
        </p:nvSpPr>
        <p:spPr/>
        <p:txBody>
          <a:bodyPr/>
          <a:lstStyle/>
          <a:p>
            <a:fld id="{F8B3D0DB-0198-4AA0-B1D8-9C3BF96F18C7}" type="slidenum">
              <a:rPr lang="en-IN" smtClean="0"/>
              <a:t>‹#›</a:t>
            </a:fld>
            <a:endParaRPr lang="en-IN"/>
          </a:p>
        </p:txBody>
      </p:sp>
    </p:spTree>
    <p:extLst>
      <p:ext uri="{BB962C8B-B14F-4D97-AF65-F5344CB8AC3E}">
        <p14:creationId xmlns:p14="http://schemas.microsoft.com/office/powerpoint/2010/main" val="511214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B2B80B-3407-337D-541F-875118177A6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6FCA9EB-0174-C58C-E5D4-9D03446C10A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D597A2-73E4-6573-7EFF-7003AE31AEED}"/>
              </a:ext>
            </a:extLst>
          </p:cNvPr>
          <p:cNvSpPr>
            <a:spLocks noGrp="1"/>
          </p:cNvSpPr>
          <p:nvPr>
            <p:ph type="dt" sz="half" idx="10"/>
          </p:nvPr>
        </p:nvSpPr>
        <p:spPr/>
        <p:txBody>
          <a:bodyPr/>
          <a:lstStyle/>
          <a:p>
            <a:fld id="{9E682EF9-7918-4384-942F-91460768CB04}" type="datetimeFigureOut">
              <a:rPr lang="en-IN" smtClean="0"/>
              <a:t>11-01-2026</a:t>
            </a:fld>
            <a:endParaRPr lang="en-IN"/>
          </a:p>
        </p:txBody>
      </p:sp>
      <p:sp>
        <p:nvSpPr>
          <p:cNvPr id="5" name="Footer Placeholder 4">
            <a:extLst>
              <a:ext uri="{FF2B5EF4-FFF2-40B4-BE49-F238E27FC236}">
                <a16:creationId xmlns:a16="http://schemas.microsoft.com/office/drawing/2014/main" id="{F86CF4F8-A454-7CA1-1522-1F886A821F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C6354D-E22F-A55F-02ED-15C25928FF42}"/>
              </a:ext>
            </a:extLst>
          </p:cNvPr>
          <p:cNvSpPr>
            <a:spLocks noGrp="1"/>
          </p:cNvSpPr>
          <p:nvPr>
            <p:ph type="sldNum" sz="quarter" idx="12"/>
          </p:nvPr>
        </p:nvSpPr>
        <p:spPr/>
        <p:txBody>
          <a:bodyPr/>
          <a:lstStyle/>
          <a:p>
            <a:fld id="{F8B3D0DB-0198-4AA0-B1D8-9C3BF96F18C7}" type="slidenum">
              <a:rPr lang="en-IN" smtClean="0"/>
              <a:t>‹#›</a:t>
            </a:fld>
            <a:endParaRPr lang="en-IN"/>
          </a:p>
        </p:txBody>
      </p:sp>
    </p:spTree>
    <p:extLst>
      <p:ext uri="{BB962C8B-B14F-4D97-AF65-F5344CB8AC3E}">
        <p14:creationId xmlns:p14="http://schemas.microsoft.com/office/powerpoint/2010/main" val="2593272353"/>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0E36D4-3334-1CD4-2F3D-B316514948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46C1A3C-6F60-BB66-BFFA-93E6AB2EDC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75CED9-168D-8F51-A23C-D04CAB13A9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682EF9-7918-4384-942F-91460768CB04}" type="datetimeFigureOut">
              <a:rPr lang="en-IN" smtClean="0"/>
              <a:t>11-01-2026</a:t>
            </a:fld>
            <a:endParaRPr lang="en-IN"/>
          </a:p>
        </p:txBody>
      </p:sp>
      <p:sp>
        <p:nvSpPr>
          <p:cNvPr id="5" name="Footer Placeholder 4">
            <a:extLst>
              <a:ext uri="{FF2B5EF4-FFF2-40B4-BE49-F238E27FC236}">
                <a16:creationId xmlns:a16="http://schemas.microsoft.com/office/drawing/2014/main" id="{E98010D3-A08E-5801-08A3-A16FC99BDF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DBEB11C-5DEE-847E-02BA-36DB003EE0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B3D0DB-0198-4AA0-B1D8-9C3BF96F18C7}" type="slidenum">
              <a:rPr lang="en-IN" smtClean="0"/>
              <a:t>‹#›</a:t>
            </a:fld>
            <a:endParaRPr lang="en-IN"/>
          </a:p>
        </p:txBody>
      </p:sp>
    </p:spTree>
    <p:extLst>
      <p:ext uri="{BB962C8B-B14F-4D97-AF65-F5344CB8AC3E}">
        <p14:creationId xmlns:p14="http://schemas.microsoft.com/office/powerpoint/2010/main" val="30207597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7.xml"/></Relationships>
</file>

<file path=ppt/slides/_rels/slide2.xml.rels><?xml version="1.0" encoding="UTF-8"?><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7.xml"/></Relationships>
</file>

<file path=ppt/slides/_rels/slide3.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3.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proj_img1.png"/><Relationship Id="rId4" Type="http://schemas.openxmlformats.org/officeDocument/2006/relationships/image" Target="../media/proj_img4.png"/></Relationships>
</file>

<file path=ppt/slides/_rels/slide15.xml.rels><?xml version="1.0" encoding="UTF-8"?><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proj_img2.png"/><Relationship Id="rId4" Type="http://schemas.openxmlformats.org/officeDocument/2006/relationships/image" Target="../media/proj_img3.png"/></Relationships>
</file>

<file path=ppt/slides/_rels/slide16.xml.rels><?xml version="1.0" encoding="UTF-8"?><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analysis_chart.png"/></Relationships>
</file>

<file path=ppt/slides/_rels/slide18.xml.rels><?xml version="1.0" encoding="UTF-8"?><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0.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BD5A989-D92F-F3D3-FB41-B4D0C9D52B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4620" y="74173"/>
            <a:ext cx="9382760" cy="1823384"/>
          </a:xfrm>
          <a:prstGeom prst="rect">
            <a:avLst/>
          </a:prstGeom>
          <a:solidFill>
            <a:schemeClr val="bg1"/>
          </a:solidFill>
        </p:spPr>
      </p:pic>
      <p:sp>
        <p:nvSpPr>
          <p:cNvPr id="5" name="TextBox 4">
            <a:extLst>
              <a:ext uri="{FF2B5EF4-FFF2-40B4-BE49-F238E27FC236}">
                <a16:creationId xmlns:a16="http://schemas.microsoft.com/office/drawing/2014/main" id="{35BAFB25-0776-6F6E-215A-229572B93A3B}"/>
              </a:ext>
            </a:extLst>
          </p:cNvPr>
          <p:cNvSpPr txBox="1"/>
          <p:nvPr/>
        </p:nvSpPr>
        <p:spPr>
          <a:xfrm>
            <a:off x="900906" y="2177157"/>
            <a:ext cx="10596880" cy="707886"/>
          </a:xfrm>
          <a:prstGeom prst="rect">
            <a:avLst/>
          </a:prstGeom>
          <a:noFill/>
        </p:spPr>
        <p:txBody>
          <a:bodyPr wrap="square" rtlCol="0">
            <a:spAutoFit/>
          </a:bodyPr>
          <a:lstStyle/>
          <a:p>
            <a:pPr algn="ctr"/>
            <a:r>
              <a:rPr lang="en-US" sz="4000" b="1" dirty="0">
                <a:solidFill>
                  <a:schemeClr val="accent1"/>
                </a:solidFill>
                <a:latin typeface="Arial" panose="020B0604020202020204" pitchFamily="34" charset="0"/>
                <a:cs typeface="Arial" panose="020B0604020202020204" pitchFamily="34" charset="0"/>
              </a:rPr>
              <a:t xml:space="preserve">B.E. Project (402047) </a:t>
            </a:r>
            <a:endParaRPr lang="en-IN" sz="4000" b="1" dirty="0">
              <a:solidFill>
                <a:schemeClr val="accent1"/>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DA53048C-0BDD-D42E-A6BA-7F37C1FCFBF7}"/>
              </a:ext>
            </a:extLst>
          </p:cNvPr>
          <p:cNvSpPr txBox="1"/>
          <p:nvPr/>
        </p:nvSpPr>
        <p:spPr>
          <a:xfrm>
            <a:off x="606900" y="2848558"/>
            <a:ext cx="10040780" cy="400110"/>
          </a:xfrm>
          <a:prstGeom prst="rect">
            <a:avLst/>
          </a:prstGeom>
          <a:noFill/>
        </p:spPr>
        <p:txBody>
          <a:bodyPr wrap="square" rtlCol="0">
            <a:spAutoFit/>
          </a:bodyPr>
          <a:lstStyle/>
          <a:p>
            <a:r>
              <a:rPr lang="en-US" sz="2000" b="1" dirty="0">
                <a:solidFill>
                  <a:schemeClr val="accent1"/>
                </a:solidFill>
                <a:latin typeface="Arial" panose="020B0604020202020204" pitchFamily="34" charset="0"/>
                <a:cs typeface="Arial" panose="020B0604020202020204" pitchFamily="34" charset="0"/>
              </a:rPr>
              <a:t xml:space="preserve">Group No.: _____			Sponsored / Non- Sponsored : </a:t>
            </a:r>
            <a:endParaRPr lang="en-IN" sz="2000" b="1" dirty="0">
              <a:solidFill>
                <a:schemeClr val="accent1"/>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5B5CF7-D24A-F44F-86E5-A8DDCD99871B}"/>
              </a:ext>
            </a:extLst>
          </p:cNvPr>
          <p:cNvSpPr txBox="1"/>
          <p:nvPr/>
        </p:nvSpPr>
        <p:spPr>
          <a:xfrm>
            <a:off x="631507" y="3372793"/>
            <a:ext cx="11311572" cy="830997"/>
          </a:xfrm>
          <a:prstGeom prst="rect">
            <a:avLst/>
          </a:prstGeom>
          <a:noFill/>
          <a:ln w="3175">
            <a:solidFill>
              <a:schemeClr val="tx1"/>
            </a:solidFill>
            <a:prstDash val="sysDot"/>
          </a:ln>
        </p:spPr>
        <p:txBody>
          <a:bodyPr wrap="square" rtlCol="0">
            <a:spAutoFit/>
          </a:bodyPr>
          <a:lstStyle/>
          <a:p>
            <a:r>
              <a:rPr lang="en-US" sz="2400" b="1" dirty="0">
                <a:solidFill>
                  <a:schemeClr val="accent1"/>
                </a:solidFill>
                <a:latin typeface="Arial" panose="020B0604020202020204" pitchFamily="34" charset="0"/>
                <a:cs typeface="Arial" panose="020B0604020202020204" pitchFamily="34" charset="0"/>
              </a:rPr>
              <a:t>Project Title :</a:t>
            </a:r>
            <a:r>
              <a:rPr lang="en-US" sz="2400" dirty="0">
                <a:solidFill>
                  <a:schemeClr val="accent1"/>
                </a:solidFill>
                <a:latin typeface="Arial" panose="020B0604020202020204" pitchFamily="34" charset="0"/>
                <a:cs typeface="Arial" panose="020B0604020202020204" pitchFamily="34" charset="0"/>
              </a:rPr>
              <a:t xml:space="preserve">__________________________________________________ </a:t>
            </a:r>
          </a:p>
          <a:p>
            <a:r>
              <a:rPr lang="en-US" sz="2400" dirty="0">
                <a:solidFill>
                  <a:schemeClr val="accent1"/>
                </a:solidFill>
                <a:latin typeface="Arial" panose="020B0604020202020204" pitchFamily="34" charset="0"/>
                <a:cs typeface="Arial" panose="020B0604020202020204" pitchFamily="34" charset="0"/>
              </a:rPr>
              <a:t xml:space="preserve">_____________________________________________________________ </a:t>
            </a:r>
            <a:endParaRPr lang="en-IN" sz="2400" dirty="0">
              <a:solidFill>
                <a:schemeClr val="accent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EC643FAE-CC15-B68D-4134-24B992BFB58F}"/>
              </a:ext>
            </a:extLst>
          </p:cNvPr>
          <p:cNvSpPr txBox="1"/>
          <p:nvPr/>
        </p:nvSpPr>
        <p:spPr>
          <a:xfrm>
            <a:off x="640240" y="4826675"/>
            <a:ext cx="4673440" cy="2031325"/>
          </a:xfrm>
          <a:prstGeom prst="rect">
            <a:avLst/>
          </a:prstGeom>
          <a:noFill/>
        </p:spPr>
        <p:txBody>
          <a:bodyPr wrap="square" rtlCol="0">
            <a:spAutoFit/>
          </a:bodyPr>
          <a:lstStyle/>
          <a:p>
            <a:r>
              <a:rPr lang="en-US" b="1" dirty="0">
                <a:solidFill>
                  <a:schemeClr val="accent1"/>
                </a:solidFill>
                <a:latin typeface="Arial" panose="020B0604020202020204" pitchFamily="34" charset="0"/>
                <a:cs typeface="Arial" panose="020B0604020202020204" pitchFamily="34" charset="0"/>
              </a:rPr>
              <a:t>Name of Students:</a:t>
            </a:r>
          </a:p>
          <a:p>
            <a:r>
              <a:rPr lang="en-US" dirty="0">
                <a:solidFill>
                  <a:schemeClr val="accent1"/>
                </a:solidFill>
                <a:latin typeface="Arial" panose="020B0604020202020204" pitchFamily="34" charset="0"/>
                <a:cs typeface="Arial" panose="020B0604020202020204" pitchFamily="34" charset="0"/>
              </a:rPr>
              <a:t xml:space="preserve">1. ABC				</a:t>
            </a:r>
          </a:p>
          <a:p>
            <a:r>
              <a:rPr lang="en-US" dirty="0">
                <a:solidFill>
                  <a:schemeClr val="accent1"/>
                </a:solidFill>
                <a:latin typeface="Arial" panose="020B0604020202020204" pitchFamily="34" charset="0"/>
                <a:cs typeface="Arial" panose="020B0604020202020204" pitchFamily="34" charset="0"/>
              </a:rPr>
              <a:t>2.</a:t>
            </a:r>
          </a:p>
          <a:p>
            <a:r>
              <a:rPr lang="en-US" dirty="0">
                <a:solidFill>
                  <a:schemeClr val="accent1"/>
                </a:solidFill>
                <a:latin typeface="Arial" panose="020B0604020202020204" pitchFamily="34" charset="0"/>
                <a:cs typeface="Arial" panose="020B0604020202020204" pitchFamily="34" charset="0"/>
              </a:rPr>
              <a:t>3.</a:t>
            </a:r>
          </a:p>
          <a:p>
            <a:r>
              <a:rPr lang="en-US" dirty="0">
                <a:solidFill>
                  <a:schemeClr val="accent1"/>
                </a:solidFill>
                <a:latin typeface="Arial" panose="020B0604020202020204" pitchFamily="34" charset="0"/>
                <a:cs typeface="Arial" panose="020B0604020202020204" pitchFamily="34" charset="0"/>
              </a:rPr>
              <a:t xml:space="preserve">							</a:t>
            </a:r>
          </a:p>
          <a:p>
            <a:r>
              <a:rPr lang="en-US" dirty="0">
                <a:solidFill>
                  <a:schemeClr val="accent1"/>
                </a:solidFill>
                <a:latin typeface="Arial" panose="020B0604020202020204" pitchFamily="34" charset="0"/>
                <a:cs typeface="Arial" panose="020B0604020202020204" pitchFamily="34" charset="0"/>
              </a:rPr>
              <a:t xml:space="preserve"> </a:t>
            </a:r>
            <a:endParaRPr lang="en-IN" dirty="0">
              <a:solidFill>
                <a:schemeClr val="accent1"/>
              </a:solidFill>
              <a:latin typeface="Arial" panose="020B0604020202020204" pitchFamily="34" charset="0"/>
              <a:cs typeface="Arial" panose="020B0604020202020204" pitchFamily="34" charset="0"/>
            </a:endParaRPr>
          </a:p>
        </p:txBody>
      </p:sp>
      <p:sp>
        <p:nvSpPr>
          <p:cNvPr id="10" name="Slide Number Placeholder 12">
            <a:extLst>
              <a:ext uri="{FF2B5EF4-FFF2-40B4-BE49-F238E27FC236}">
                <a16:creationId xmlns:a16="http://schemas.microsoft.com/office/drawing/2014/main" id="{6E98562E-A6CE-6AF6-D921-57F6094401FC}"/>
              </a:ext>
            </a:extLst>
          </p:cNvPr>
          <p:cNvSpPr>
            <a:spLocks noGrp="1"/>
          </p:cNvSpPr>
          <p:nvPr>
            <p:ph type="sldNum" sz="quarter" idx="12"/>
          </p:nvPr>
        </p:nvSpPr>
        <p:spPr>
          <a:xfrm>
            <a:off x="8610600" y="6356350"/>
            <a:ext cx="2743200" cy="365125"/>
          </a:xfrm>
        </p:spPr>
        <p:txBody>
          <a:bodyPr/>
          <a:lstStyle/>
          <a:p>
            <a:fld id="{FD71004A-AFD7-42A5-B6DE-26BE9BFFD18E}" type="slidenum">
              <a:rPr lang="en-IN" smtClean="0"/>
              <a:t>1</a:t>
            </a:fld>
            <a:endParaRPr lang="en-IN"/>
          </a:p>
        </p:txBody>
      </p:sp>
      <p:sp>
        <p:nvSpPr>
          <p:cNvPr id="11" name="TextBox 10">
            <a:extLst>
              <a:ext uri="{FF2B5EF4-FFF2-40B4-BE49-F238E27FC236}">
                <a16:creationId xmlns:a16="http://schemas.microsoft.com/office/drawing/2014/main" id="{617CDAAC-0794-D926-ACE7-29D27BC2F53D}"/>
              </a:ext>
            </a:extLst>
          </p:cNvPr>
          <p:cNvSpPr txBox="1"/>
          <p:nvPr/>
        </p:nvSpPr>
        <p:spPr>
          <a:xfrm>
            <a:off x="5608480" y="4826675"/>
            <a:ext cx="6583520" cy="1754326"/>
          </a:xfrm>
          <a:prstGeom prst="rect">
            <a:avLst/>
          </a:prstGeom>
          <a:noFill/>
        </p:spPr>
        <p:txBody>
          <a:bodyPr wrap="square" rtlCol="0">
            <a:spAutoFit/>
          </a:bodyPr>
          <a:lstStyle/>
          <a:p>
            <a:r>
              <a:rPr lang="en-US" b="1" dirty="0">
                <a:solidFill>
                  <a:schemeClr val="accent1"/>
                </a:solidFill>
                <a:latin typeface="Arial" panose="020B0604020202020204" pitchFamily="34" charset="0"/>
                <a:cs typeface="Arial" panose="020B0604020202020204" pitchFamily="34" charset="0"/>
              </a:rPr>
              <a:t xml:space="preserve">Name of Students from other department: </a:t>
            </a:r>
            <a:r>
              <a:rPr lang="en-US" b="1" i="1" dirty="0">
                <a:solidFill>
                  <a:srgbClr val="002060"/>
                </a:solidFill>
                <a:latin typeface="Arial" panose="020B0604020202020204" pitchFamily="34" charset="0"/>
                <a:cs typeface="Arial" panose="020B0604020202020204" pitchFamily="34" charset="0"/>
              </a:rPr>
              <a:t>for inter/Multi disciplinary project</a:t>
            </a:r>
          </a:p>
          <a:p>
            <a:r>
              <a:rPr lang="en-US" dirty="0">
                <a:solidFill>
                  <a:schemeClr val="accent1"/>
                </a:solidFill>
                <a:latin typeface="Arial" panose="020B0604020202020204" pitchFamily="34" charset="0"/>
                <a:cs typeface="Arial" panose="020B0604020202020204" pitchFamily="34" charset="0"/>
              </a:rPr>
              <a:t xml:space="preserve">1  ………………………………. ( Dept. name)	</a:t>
            </a:r>
          </a:p>
          <a:p>
            <a:r>
              <a:rPr lang="en-US" dirty="0">
                <a:solidFill>
                  <a:schemeClr val="accent1"/>
                </a:solidFill>
                <a:latin typeface="Arial" panose="020B0604020202020204" pitchFamily="34" charset="0"/>
                <a:cs typeface="Arial" panose="020B0604020202020204" pitchFamily="34" charset="0"/>
              </a:rPr>
              <a:t xml:space="preserve">2. ………………………………. ( Dept. name)	</a:t>
            </a:r>
          </a:p>
          <a:p>
            <a:r>
              <a:rPr lang="en-US" dirty="0">
                <a:solidFill>
                  <a:schemeClr val="accent1"/>
                </a:solidFill>
                <a:latin typeface="Arial" panose="020B0604020202020204" pitchFamily="34" charset="0"/>
                <a:cs typeface="Arial" panose="020B0604020202020204" pitchFamily="34" charset="0"/>
              </a:rPr>
              <a:t xml:space="preserve">3. ………………………………. ( Dept. name)		</a:t>
            </a:r>
          </a:p>
          <a:p>
            <a:r>
              <a:rPr lang="en-US" dirty="0">
                <a:solidFill>
                  <a:schemeClr val="accent1"/>
                </a:solidFill>
                <a:latin typeface="Arial" panose="020B0604020202020204" pitchFamily="34" charset="0"/>
                <a:cs typeface="Arial" panose="020B0604020202020204" pitchFamily="34" charset="0"/>
              </a:rPr>
              <a:t xml:space="preserve"> </a:t>
            </a:r>
            <a:endParaRPr lang="en-IN" dirty="0">
              <a:solidFill>
                <a:schemeClr val="accent1"/>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3C3D186A-B7D1-47B3-D436-03ED8083A666}"/>
              </a:ext>
            </a:extLst>
          </p:cNvPr>
          <p:cNvSpPr txBox="1"/>
          <p:nvPr/>
        </p:nvSpPr>
        <p:spPr>
          <a:xfrm>
            <a:off x="743586" y="4284400"/>
            <a:ext cx="9639934" cy="461665"/>
          </a:xfrm>
          <a:prstGeom prst="rect">
            <a:avLst/>
          </a:prstGeom>
          <a:noFill/>
        </p:spPr>
        <p:txBody>
          <a:bodyPr wrap="square" rtlCol="0">
            <a:spAutoFit/>
          </a:bodyPr>
          <a:lstStyle/>
          <a:p>
            <a:r>
              <a:rPr lang="en-US" sz="2400" b="1" dirty="0">
                <a:solidFill>
                  <a:schemeClr val="accent1"/>
                </a:solidFill>
              </a:rPr>
              <a:t>Name of Guide : Prof. Dr. ………………………… (</a:t>
            </a:r>
            <a:r>
              <a:rPr lang="en-US" sz="2400" dirty="0">
                <a:solidFill>
                  <a:schemeClr val="accent1"/>
                </a:solidFill>
              </a:rPr>
              <a:t xml:space="preserve">do not add </a:t>
            </a:r>
            <a:r>
              <a:rPr lang="en-US" sz="2400" b="1" i="1" dirty="0">
                <a:solidFill>
                  <a:schemeClr val="accent1"/>
                </a:solidFill>
              </a:rPr>
              <a:t>Sir</a:t>
            </a:r>
            <a:r>
              <a:rPr lang="en-US" sz="2400" b="1" dirty="0">
                <a:solidFill>
                  <a:schemeClr val="accent1"/>
                </a:solidFill>
              </a:rPr>
              <a:t xml:space="preserve"> </a:t>
            </a:r>
            <a:r>
              <a:rPr lang="en-US" sz="2400" dirty="0">
                <a:solidFill>
                  <a:schemeClr val="accent1"/>
                </a:solidFill>
              </a:rPr>
              <a:t>after the name</a:t>
            </a:r>
            <a:r>
              <a:rPr lang="en-US" sz="2400" b="1" dirty="0">
                <a:solidFill>
                  <a:schemeClr val="accent1"/>
                </a:solidFill>
              </a:rPr>
              <a:t>.</a:t>
            </a:r>
            <a:endParaRPr lang="en-IN" sz="2400" b="1" dirty="0">
              <a:solidFill>
                <a:schemeClr val="accent1"/>
              </a:solidFill>
            </a:endParaRPr>
          </a:p>
        </p:txBody>
      </p:sp>
    </p:spTree>
    <p:extLst>
      <p:ext uri="{BB962C8B-B14F-4D97-AF65-F5344CB8AC3E}">
        <p14:creationId xmlns:p14="http://schemas.microsoft.com/office/powerpoint/2010/main" val="1406521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8AC77-5A53-B651-05EB-0BB4F57638F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7CE7FA5-0A03-02AF-0571-E904615EAC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4620" y="74173"/>
            <a:ext cx="9382760" cy="1823384"/>
          </a:xfrm>
          <a:prstGeom prst="rect">
            <a:avLst/>
          </a:prstGeom>
          <a:solidFill>
            <a:schemeClr val="bg1"/>
          </a:solidFill>
        </p:spPr>
      </p:pic>
      <p:sp>
        <p:nvSpPr>
          <p:cNvPr id="3" name="Rectangle 2">
            <a:extLst>
              <a:ext uri="{FF2B5EF4-FFF2-40B4-BE49-F238E27FC236}">
                <a16:creationId xmlns:a16="http://schemas.microsoft.com/office/drawing/2014/main" id="{1DF157FF-6064-B079-DB99-689002150A13}"/>
              </a:ext>
            </a:extLst>
          </p:cNvPr>
          <p:cNvSpPr/>
          <p:nvPr/>
        </p:nvSpPr>
        <p:spPr>
          <a:xfrm>
            <a:off x="3210560" y="2082800"/>
            <a:ext cx="5161280" cy="471118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CC1A5D85-16F9-9277-169C-F93665626995}"/>
              </a:ext>
            </a:extLst>
          </p:cNvPr>
          <p:cNvSpPr txBox="1"/>
          <p:nvPr/>
        </p:nvSpPr>
        <p:spPr>
          <a:xfrm>
            <a:off x="3860800" y="2296160"/>
            <a:ext cx="4511040" cy="369332"/>
          </a:xfrm>
          <a:prstGeom prst="rect">
            <a:avLst/>
          </a:prstGeom>
          <a:noFill/>
        </p:spPr>
        <p:txBody>
          <a:bodyPr wrap="square" rtlCol="0">
            <a:spAutoFit/>
          </a:bodyPr>
          <a:lstStyle/>
          <a:p>
            <a:r>
              <a:rPr lang="en-US" dirty="0"/>
              <a:t xml:space="preserve">Sponsored Certificate in the given format </a:t>
            </a:r>
            <a:endParaRPr lang="en-IN" dirty="0"/>
          </a:p>
        </p:txBody>
      </p:sp>
    </p:spTree>
    <p:extLst>
      <p:ext uri="{BB962C8B-B14F-4D97-AF65-F5344CB8AC3E}">
        <p14:creationId xmlns:p14="http://schemas.microsoft.com/office/powerpoint/2010/main" val="623051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3C094BC-B60D-6EDF-D2A1-5D1D0CE8CFDF}"/>
              </a:ext>
            </a:extLst>
          </p:cNvPr>
          <p:cNvPicPr>
            <a:picLocks noChangeAspect="1"/>
          </p:cNvPicPr>
          <p:nvPr/>
        </p:nvPicPr>
        <p:blipFill>
          <a:blip r:embed="rId2"/>
          <a:stretch>
            <a:fillRect/>
          </a:stretch>
        </p:blipFill>
        <p:spPr>
          <a:xfrm>
            <a:off x="421613" y="81280"/>
            <a:ext cx="11348773" cy="1239520"/>
          </a:xfrm>
          <a:prstGeom prst="rect">
            <a:avLst/>
          </a:prstGeom>
        </p:spPr>
      </p:pic>
      <p:sp>
        <p:nvSpPr>
          <p:cNvPr id="3" name="Rectangle 2">
            <a:extLst>
              <a:ext uri="{FF2B5EF4-FFF2-40B4-BE49-F238E27FC236}">
                <a16:creationId xmlns:a16="http://schemas.microsoft.com/office/drawing/2014/main" id="{1204458B-9A48-E50A-F90D-A982F723D99B}"/>
              </a:ext>
            </a:extLst>
          </p:cNvPr>
          <p:cNvSpPr>
            <a:spLocks noChangeArrowheads="1"/>
          </p:cNvSpPr>
          <p:nvPr/>
        </p:nvSpPr>
        <p:spPr bwMode="auto">
          <a:xfrm>
            <a:off x="903271" y="1628507"/>
            <a:ext cx="9854044"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rgbClr val="002060"/>
                </a:solidFill>
                <a:effectLst/>
                <a:latin typeface="Arial" panose="020B0604020202020204" pitchFamily="34" charset="0"/>
              </a:rPr>
              <a:t xml:space="preserve">BE Project Work 				</a:t>
            </a:r>
            <a:endParaRPr lang="en-US" altLang="en-US" sz="2400" b="1" dirty="0">
              <a:solidFill>
                <a:srgbClr val="002060"/>
              </a:solidFill>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2400" b="1" dirty="0">
                <a:solidFill>
                  <a:srgbClr val="002060"/>
                </a:solidFill>
                <a:highlight>
                  <a:srgbClr val="FFFF00"/>
                </a:highlight>
                <a:latin typeface="Arial" panose="020B0604020202020204" pitchFamily="34" charset="0"/>
              </a:rPr>
              <a:t xml:space="preserve">Objectives: </a:t>
            </a:r>
            <a:endParaRPr kumimoji="0" lang="en-US" altLang="en-US" sz="2400" b="1" i="0" u="none" strike="noStrike" cap="none" normalizeH="0" baseline="0" dirty="0">
              <a:ln>
                <a:noFill/>
              </a:ln>
              <a:solidFill>
                <a:srgbClr val="002060"/>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To monitor the initial progress of project groups in a structured manner.</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To ensure students begin their project work on time and stay focused.</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To assess the effectiveness of problem identification and understanding of the domain.</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To encourage teamwork, research skills, and brainstorming in the early stages.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To provide an opportunity for early feedback and guidance from guide associated.</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To help students refine and finalize a technically and practically feasible problem statement.</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To align project objectives with academic standards and industry relevance.</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tab pos="92075" algn="l"/>
              </a:tabLst>
            </a:pPr>
            <a:r>
              <a:rPr kumimoji="0" lang="en-US" altLang="en-US" sz="1800" b="0" i="0" u="none" strike="noStrike" cap="none" normalizeH="0" baseline="0" dirty="0">
                <a:ln>
                  <a:noFill/>
                </a:ln>
                <a:solidFill>
                  <a:schemeClr val="tx1"/>
                </a:solidFill>
                <a:effectLst/>
                <a:latin typeface="Arial" panose="020B0604020202020204" pitchFamily="34" charset="0"/>
              </a:rPr>
              <a:t>To promote accountability and systematic project documentation from the start.</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To build a strong foundation for design, development, and implementation phases ahead.</a:t>
            </a:r>
          </a:p>
        </p:txBody>
      </p:sp>
    </p:spTree>
    <p:extLst>
      <p:ext uri="{BB962C8B-B14F-4D97-AF65-F5344CB8AC3E}">
        <p14:creationId xmlns:p14="http://schemas.microsoft.com/office/powerpoint/2010/main" val="6379313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21613" y="81280"/>
            <a:ext cx="11348773" cy="1239520"/>
          </a:xfrm>
          <a:prstGeom prst="rect">
            <a:avLst/>
          </a:prstGeom>
        </p:spPr>
      </p:pic>
      <p:sp>
        <p:nvSpPr>
          <p:cNvPr id="4" name="TitleBox"/>
          <p:cNvSpPr txBox="1"/>
          <p:nvPr/>
        </p:nvSpPr>
        <p:spPr>
          <a:xfrm>
            <a:off x="274319" y="1320800"/>
            <a:ext cx="11643360" cy="600000"/>
          </a:xfrm>
          <a:prstGeom prst="rect">
            <a:avLst/>
          </a:prstGeom>
          <a:noFill/>
        </p:spPr>
        <p:txBody>
          <a:bodyPr wrap="square">
            <a:spAutoFit/>
          </a:bodyPr>
          <a:lstStyle/>
          <a:p>
            <a:r>
              <a:rPr lang="en-US" sz="2400" b="1" dirty="0">
                <a:solidFill>
                  <a:srgbClr val="002060"/>
                </a:solidFill>
                <a:latin typeface="Arial" pitchFamily="34" charset="0"/>
              </a:rPr>
              <a:t>Identification of Problem:</a:t>
            </a:r>
          </a:p>
        </p:txBody>
      </p:sp>
      <p:sp>
        <p:nvSpPr>
          <p:cNvPr id="5" name="ContentBox"/>
          <p:cNvSpPr txBox="1"/>
          <p:nvPr/>
        </p:nvSpPr>
        <p:spPr>
          <a:xfrm>
            <a:off x="274319" y="2050000"/>
            <a:ext cx="11643360" cy="4500000"/>
          </a:xfrm>
          <a:prstGeom prst="rect">
            <a:avLst/>
          </a:prstGeom>
          <a:noFill/>
        </p:spPr>
        <p:txBody>
          <a:bodyPr wrap="square">
            <a:spAutoFit/>
          </a:bodyPr>
          <a:lstStyle/>
          <a:p>
            <a:r>
              <a:rPr lang="en-US" sz="1600" b="1" dirty="0">
                <a:solidFill>
                  <a:srgbClr val="002060"/>
                </a:solidFill>
                <a:latin typeface="Arial" pitchFamily="34" charset="0"/>
              </a:rPr>
              <a:t>Area / Domain of Interest:</a:t>
            </a:r>
          </a:p>
          <a:p>
            <a:r>
              <a:rPr lang="en-US" sz="1500" dirty="0">
                <a:solidFill>
                  <a:srgbClr val="000000"/>
                </a:solidFill>
                <a:latin typeface="Arial" pitchFamily="34" charset="0"/>
              </a:rPr>
              <a:t>Autonomous UAV systems for aerial survey missions — covering disaster response, agricultural monitoring, and infrastructure inspection.</a:t>
            </a:r>
          </a:p>
          <a:p>
            <a:r>
              <a:rPr lang="en-US" sz="900" dirty="0">
                <a:solidFill>
                  <a:srgbClr val="000000"/>
                </a:solidFill>
                <a:latin typeface="Arial" pitchFamily="34" charset="0"/>
              </a:rPr>
              <a:t/>
            </a:r>
          </a:p>
          <a:p>
            <a:r>
              <a:rPr lang="en-US" sz="1600" b="1" dirty="0">
                <a:solidFill>
                  <a:srgbClr val="002060"/>
                </a:solidFill>
                <a:latin typeface="Arial" pitchFamily="34" charset="0"/>
              </a:rPr>
              <a:t>How the Problem Was Identified:</a:t>
            </a:r>
          </a:p>
          <a:p>
            <a:r>
              <a:rPr lang="en-US" sz="1500" dirty="0">
                <a:solidFill>
                  <a:srgbClr val="000000"/>
                </a:solidFill>
                <a:latin typeface="Arial" pitchFamily="34" charset="0"/>
              </a:rPr>
              <a:t>Current UAV path planners assume a fixed, generic drone model. Literature survey (Hehn &amp; D'Andrea, 2015; Cabreira et al., 2019) confirmed that no existing framework links mechanical design parameters directly to mission-level path optimization.</a:t>
            </a:r>
          </a:p>
          <a:p>
            <a:r>
              <a:rPr lang="en-US" sz="900" dirty="0">
                <a:solidFill>
                  <a:srgbClr val="000000"/>
                </a:solidFill>
                <a:latin typeface="Arial" pitchFamily="34" charset="0"/>
              </a:rPr>
              <a:t/>
            </a:r>
          </a:p>
          <a:p>
            <a:r>
              <a:rPr lang="en-US" sz="1600" b="1" dirty="0">
                <a:solidFill>
                  <a:srgbClr val="002060"/>
                </a:solidFill>
                <a:latin typeface="Arial" pitchFamily="34" charset="0"/>
              </a:rPr>
              <a:t>Background Context:</a:t>
            </a:r>
          </a:p>
          <a:p>
            <a:r>
              <a:rPr lang="en-US" sz="1500" dirty="0">
                <a:solidFill>
                  <a:srgbClr val="000000"/>
                </a:solidFill>
                <a:latin typeface="Arial" pitchFamily="34" charset="0"/>
              </a:rPr>
              <a:t>Our UIN2549 quadcopter (EMAX MT3110 480KV, APC1238 props, 2.0 kg MTOW, 14.8V 6800mAh) has specific aeromechanical characteristics — disk loading, induced power, optimal cruise speed — that differ from generic models. Using a one-size-fits-all planner leads to suboptimal missions, wasted battery, and unrealistic trajectories.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21613" y="81280"/>
            <a:ext cx="11348773" cy="1239520"/>
          </a:xfrm>
          <a:prstGeom prst="rect">
            <a:avLst/>
          </a:prstGeom>
        </p:spPr>
      </p:pic>
      <p:sp>
        <p:nvSpPr>
          <p:cNvPr id="4" name="TitleBox"/>
          <p:cNvSpPr txBox="1"/>
          <p:nvPr/>
        </p:nvSpPr>
        <p:spPr>
          <a:xfrm>
            <a:off x="274319" y="1320800"/>
            <a:ext cx="11643360" cy="600000"/>
          </a:xfrm>
          <a:prstGeom prst="rect">
            <a:avLst/>
          </a:prstGeom>
          <a:noFill/>
        </p:spPr>
        <p:txBody>
          <a:bodyPr wrap="square">
            <a:spAutoFit/>
          </a:bodyPr>
          <a:lstStyle/>
          <a:p>
            <a:r>
              <a:rPr lang="en-US" sz="2400" b="1" dirty="0">
                <a:solidFill>
                  <a:srgbClr val="002060"/>
                </a:solidFill>
                <a:latin typeface="Arial" pitchFamily="34" charset="0"/>
              </a:rPr>
              <a:t>Purpose and Need (Motivation) of the Problem:</a:t>
            </a:r>
          </a:p>
        </p:txBody>
      </p:sp>
      <p:sp>
        <p:nvSpPr>
          <p:cNvPr id="5" name="ContentBox"/>
          <p:cNvSpPr txBox="1"/>
          <p:nvPr/>
        </p:nvSpPr>
        <p:spPr>
          <a:xfrm>
            <a:off x="274319" y="2050000"/>
            <a:ext cx="11643360" cy="4500000"/>
          </a:xfrm>
          <a:prstGeom prst="rect">
            <a:avLst/>
          </a:prstGeom>
          <a:noFill/>
        </p:spPr>
        <p:txBody>
          <a:bodyPr wrap="square">
            <a:spAutoFit/>
          </a:bodyPr>
          <a:lstStyle/>
          <a:p>
            <a:r>
              <a:rPr lang="en-US" sz="1600" b="1" dirty="0">
                <a:solidFill>
                  <a:srgbClr val="002060"/>
                </a:solidFill>
                <a:latin typeface="Arial" pitchFamily="34" charset="0"/>
              </a:rPr>
              <a:t>Core Problem Statement:</a:t>
            </a:r>
          </a:p>
          <a:p>
            <a:r>
              <a:rPr lang="en-US" sz="1500" dirty="0">
                <a:solidFill>
                  <a:srgbClr val="000000"/>
                </a:solidFill>
                <a:latin typeface="Arial" pitchFamily="34" charset="0"/>
              </a:rPr>
              <a:t>There is no existing framework that takes a drone’s mechanical design (mass, rotor count, propeller size, battery capacity) as input and produces a physics-grounded, energy-optimized flight plan as output.</a:t>
            </a:r>
          </a:p>
          <a:p>
            <a:r>
              <a:rPr lang="en-US" sz="700" dirty="0">
                <a:solidFill>
                  <a:srgbClr val="000000"/>
                </a:solidFill>
                <a:latin typeface="Arial" pitchFamily="34" charset="0"/>
              </a:rPr>
              <a:t/>
            </a:r>
          </a:p>
          <a:p>
            <a:r>
              <a:rPr lang="en-US" sz="1600" b="1" dirty="0">
                <a:solidFill>
                  <a:srgbClr val="002060"/>
                </a:solidFill>
                <a:latin typeface="Arial" pitchFamily="34" charset="0"/>
              </a:rPr>
              <a:t>Why It Matters:</a:t>
            </a:r>
          </a:p>
          <a:p>
            <a:r>
              <a:rPr lang="en-US" sz="1500" dirty="0">
                <a:solidFill>
                  <a:srgbClr val="000000"/>
                </a:solidFill>
                <a:latin typeface="Arial" pitchFamily="34" charset="0"/>
              </a:rPr>
              <a:t>•  Generic planners ignore propulsion physics — they treat all drones identically</a:t>
            </a:r>
          </a:p>
          <a:p>
            <a:r>
              <a:rPr lang="en-US" sz="1500" dirty="0">
                <a:solidFill>
                  <a:srgbClr val="000000"/>
                </a:solidFill>
                <a:latin typeface="Arial" pitchFamily="34" charset="0"/>
              </a:rPr>
              <a:t>•  Sub-optimal cruise speeds waste 20–40% of battery per mission</a:t>
            </a:r>
          </a:p>
          <a:p>
            <a:r>
              <a:rPr lang="en-US" sz="1500" dirty="0">
                <a:solidFill>
                  <a:srgbClr val="000000"/>
                </a:solidFill>
                <a:latin typeface="Arial" pitchFamily="34" charset="0"/>
              </a:rPr>
              <a:t>•  Wrong altitude selection causes redundant sweep passes or missed coverage</a:t>
            </a:r>
          </a:p>
          <a:p>
            <a:r>
              <a:rPr lang="en-US" sz="1500" dirty="0">
                <a:solidFill>
                  <a:srgbClr val="000000"/>
                </a:solidFill>
                <a:latin typeface="Arial" pitchFamily="34" charset="0"/>
              </a:rPr>
              <a:t>•  Wind conditions and payload mass can increase mission energy by 50–78%</a:t>
            </a:r>
          </a:p>
          <a:p>
            <a:r>
              <a:rPr lang="en-US" sz="700" dirty="0">
                <a:solidFill>
                  <a:srgbClr val="000000"/>
                </a:solidFill>
                <a:latin typeface="Arial" pitchFamily="34" charset="0"/>
              </a:rPr>
              <a:t/>
            </a:r>
          </a:p>
          <a:p>
            <a:r>
              <a:rPr lang="en-US" sz="1600" b="1" dirty="0">
                <a:solidFill>
                  <a:srgbClr val="002060"/>
                </a:solidFill>
                <a:latin typeface="Arial" pitchFamily="34" charset="0"/>
              </a:rPr>
              <a:t>Significance:</a:t>
            </a:r>
          </a:p>
          <a:p>
            <a:r>
              <a:rPr lang="en-US" sz="1500" dirty="0">
                <a:solidFill>
                  <a:srgbClr val="000000"/>
                </a:solidFill>
                <a:latin typeface="Arial" pitchFamily="34" charset="0"/>
              </a:rPr>
              <a:t>A design-aware planner directly outputs: optimal cruise speed V* (m/s), flight altitude (m AGL), sweep spacing (m), number of passes, total mission energy (Wh), and feasibility check against battery capacity. This is the first step toward truly adaptive autonomous UAV missions.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21613" y="81280"/>
            <a:ext cx="11348773" cy="1239520"/>
          </a:xfrm>
          <a:prstGeom prst="rect">
            <a:avLst/>
          </a:prstGeom>
        </p:spPr>
      </p:pic>
      <p:sp>
        <p:nvSpPr>
          <p:cNvPr id="4" name="TitleBox"/>
          <p:cNvSpPr txBox="1"/>
          <p:nvPr/>
        </p:nvSpPr>
        <p:spPr>
          <a:xfrm>
            <a:off x="274319" y="1320800"/>
            <a:ext cx="11643360" cy="600000"/>
          </a:xfrm>
          <a:prstGeom prst="rect">
            <a:avLst/>
          </a:prstGeom>
          <a:noFill/>
        </p:spPr>
        <p:txBody>
          <a:bodyPr wrap="square">
            <a:spAutoFit/>
          </a:bodyPr>
          <a:lstStyle/>
          <a:p>
            <a:r>
              <a:rPr lang="en-US" sz="2400" b="1" dirty="0">
                <a:solidFill>
                  <a:srgbClr val="002060"/>
                </a:solidFill>
                <a:latin typeface="Arial" pitchFamily="34" charset="0"/>
              </a:rPr>
              <a:t>Gap Identification:</a:t>
            </a:r>
          </a:p>
        </p:txBody>
      </p:sp>
      <p:sp>
        <p:nvSpPr>
          <p:cNvPr id="5" name="ContentBox"/>
          <p:cNvSpPr txBox="1"/>
          <p:nvPr/>
        </p:nvSpPr>
        <p:spPr>
          <a:xfrm>
            <a:off x="274319" y="2050000"/>
            <a:ext cx="11643360" cy="4500000"/>
          </a:xfrm>
          <a:prstGeom prst="rect">
            <a:avLst/>
          </a:prstGeom>
          <a:noFill/>
        </p:spPr>
        <p:txBody>
          <a:bodyPr wrap="square">
            <a:spAutoFit/>
          </a:bodyPr>
          <a:lstStyle/>
          <a:p>
            <a:r>
              <a:rPr lang="en-US" sz="1600" b="1" dirty="0">
                <a:solidFill>
                  <a:srgbClr val="002060"/>
                </a:solidFill>
                <a:latin typeface="Arial" pitchFamily="34" charset="0"/>
              </a:rPr>
              <a:t>Current Challenges in Existing Solutions:</a:t>
            </a:r>
          </a:p>
          <a:p>
            <a:r>
              <a:rPr lang="en-US" sz="1500" dirty="0">
                <a:solidFill>
                  <a:srgbClr val="000000"/>
                </a:solidFill>
                <a:latin typeface="Arial" pitchFamily="34" charset="0"/>
              </a:rPr>
              <a:t>•  QGroundControl / Mission Planner: Manual parameter entry, no aeromechanical model</a:t>
            </a:r>
          </a:p>
          <a:p>
            <a:r>
              <a:rPr lang="en-US" sz="1500" dirty="0">
                <a:solidFill>
                  <a:srgbClr val="000000"/>
                </a:solidFill>
                <a:latin typeface="Arial" pitchFamily="34" charset="0"/>
              </a:rPr>
              <a:t>•  DJI mission planning apps: Proprietary, closed, device-locked</a:t>
            </a:r>
          </a:p>
          <a:p>
            <a:r>
              <a:rPr lang="en-US" sz="1500" dirty="0">
                <a:solidFill>
                  <a:srgbClr val="000000"/>
                </a:solidFill>
                <a:latin typeface="Arial" pitchFamily="34" charset="0"/>
              </a:rPr>
              <a:t>•  Academic planners (Cabreira 2019, Araujo 2013): Coverage only — no energy physics</a:t>
            </a:r>
          </a:p>
          <a:p>
            <a:r>
              <a:rPr lang="en-US" sz="700" dirty="0">
                <a:solidFill>
                  <a:srgbClr val="000000"/>
                </a:solidFill>
                <a:latin typeface="Arial" pitchFamily="34" charset="0"/>
              </a:rPr>
              <a:t/>
            </a:r>
          </a:p>
          <a:p>
            <a:r>
              <a:rPr lang="en-US" sz="1600" b="1" dirty="0">
                <a:solidFill>
                  <a:srgbClr val="C00000"/>
                </a:solidFill>
                <a:latin typeface="Arial" pitchFamily="34" charset="0"/>
              </a:rPr>
              <a:t>Our Innovation — What Didn’t Exist Before:</a:t>
            </a:r>
          </a:p>
          <a:p>
            <a:r>
              <a:rPr lang="en-US" sz="1500" dirty="0">
                <a:solidFill>
                  <a:srgbClr val="000000"/>
                </a:solidFill>
                <a:latin typeface="Arial" pitchFamily="34" charset="0"/>
              </a:rPr>
              <a:t>•  Physics-grounded model: P(V) = P_induced(V) + P_profile + P_parasitic(V)</a:t>
            </a:r>
          </a:p>
          <a:p>
            <a:r>
              <a:rPr lang="en-US" sz="1500" dirty="0">
                <a:solidFill>
                  <a:srgbClr val="000000"/>
                </a:solidFill>
                <a:latin typeface="Arial" pitchFamily="34" charset="0"/>
              </a:rPr>
              <a:t>•  Optimal speed solved as: V* = argmin(P(V)/V) — minimum energy per metre, not minimum power</a:t>
            </a:r>
          </a:p>
          <a:p>
            <a:r>
              <a:rPr lang="en-US" sz="1500" dirty="0">
                <a:solidFill>
                  <a:srgbClr val="000000"/>
                </a:solidFill>
                <a:latin typeface="Arial" pitchFamily="34" charset="0"/>
              </a:rPr>
              <a:t>•  Full mission output: speed, altitude, sweep count, energy, feasibility check, wind sensitivity</a:t>
            </a:r>
          </a:p>
          <a:p>
            <a:r>
              <a:rPr lang="en-US" sz="700" dirty="0">
                <a:solidFill>
                  <a:srgbClr val="000000"/>
                </a:solidFill>
                <a:latin typeface="Arial" pitchFamily="34" charset="0"/>
              </a:rPr>
              <a:t/>
            </a:r>
          </a:p>
          <a:p>
            <a:r>
              <a:rPr lang="en-US" sz="1600" b="1" dirty="0">
                <a:solidFill>
                  <a:srgbClr val="002060"/>
                </a:solidFill>
                <a:latin typeface="Arial" pitchFamily="34" charset="0"/>
              </a:rPr>
              <a:t>Benefits over Existing Solutions:</a:t>
            </a:r>
          </a:p>
          <a:p>
            <a:r>
              <a:rPr lang="en-US" sz="1500" dirty="0">
                <a:solidFill>
                  <a:srgbClr val="000000"/>
                </a:solidFill>
                <a:latin typeface="Arial" pitchFamily="34" charset="0"/>
              </a:rPr>
              <a:t>•  Our quadcopter (UIN2549): V* = 11.1 m/s, mission energy = 20.46 Wh on 200×200 m field at 40 m AGL</a:t>
            </a:r>
          </a:p>
          <a:p>
            <a:r>
              <a:rPr lang="en-US" sz="1500" dirty="0">
                <a:solidFill>
                  <a:srgbClr val="000000"/>
                </a:solidFill>
                <a:latin typeface="Arial" pitchFamily="34" charset="0"/>
              </a:rPr>
              <a:t>•  55.5 Wh usable battery — 2.7× more than needed — validated feasibility before flight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21613" y="81280"/>
            <a:ext cx="11348773" cy="1239520"/>
          </a:xfrm>
          <a:prstGeom prst="rect">
            <a:avLst/>
          </a:prstGeom>
        </p:spPr>
      </p:pic>
      <p:sp>
        <p:nvSpPr>
          <p:cNvPr id="4" name="TitleBox"/>
          <p:cNvSpPr txBox="1"/>
          <p:nvPr/>
        </p:nvSpPr>
        <p:spPr>
          <a:xfrm>
            <a:off x="274319" y="1320800"/>
            <a:ext cx="11643360" cy="600000"/>
          </a:xfrm>
          <a:prstGeom prst="rect">
            <a:avLst/>
          </a:prstGeom>
          <a:noFill/>
        </p:spPr>
        <p:txBody>
          <a:bodyPr wrap="square">
            <a:spAutoFit/>
          </a:bodyPr>
          <a:lstStyle/>
          <a:p>
            <a:r>
              <a:rPr lang="en-US" sz="2400" b="1" dirty="0">
                <a:solidFill>
                  <a:srgbClr val="002060"/>
                </a:solidFill>
                <a:latin typeface="Arial" pitchFamily="34" charset="0"/>
              </a:rPr>
              <a:t>Assumptions, Constraints &amp; Project Requirements:</a:t>
            </a:r>
          </a:p>
        </p:txBody>
      </p:sp>
      <p:sp>
        <p:nvSpPr>
          <p:cNvPr id="5" name="ContentBox"/>
          <p:cNvSpPr txBox="1"/>
          <p:nvPr/>
        </p:nvSpPr>
        <p:spPr>
          <a:xfrm>
            <a:off x="274319" y="2050000"/>
            <a:ext cx="11643360" cy="4300000"/>
          </a:xfrm>
          <a:prstGeom prst="rect">
            <a:avLst/>
          </a:prstGeom>
          <a:noFill/>
        </p:spPr>
        <p:txBody>
          <a:bodyPr wrap="square">
            <a:spAutoFit/>
          </a:bodyPr>
          <a:lstStyle/>
          <a:p>
            <a:r>
              <a:rPr lang="en-US" sz="1600" b="1" dirty="0">
                <a:solidFill>
                  <a:srgbClr val="002060"/>
                </a:solidFill>
                <a:latin typeface="Arial" pitchFamily="34" charset="0"/>
              </a:rPr>
              <a:t>Assumptions:</a:t>
            </a:r>
          </a:p>
          <a:p>
            <a:r>
              <a:rPr lang="en-US" sz="1500" dirty="0">
                <a:solidFill>
                  <a:srgbClr val="000000"/>
                </a:solidFill>
                <a:latin typeface="Arial" pitchFamily="34" charset="0"/>
              </a:rPr>
              <a:t>•  ISA sea-level air density (1.225 kg/m³), level flight, no GPS error</a:t>
            </a:r>
          </a:p>
          <a:p>
            <a:r>
              <a:rPr lang="en-US" sz="1500" dirty="0">
                <a:solidFill>
                  <a:srgbClr val="000000"/>
                </a:solidFill>
                <a:latin typeface="Arial" pitchFamily="34" charset="0"/>
              </a:rPr>
              <a:t>•  Momentum theory valid for forward flight using Glauert inflow model</a:t>
            </a:r>
          </a:p>
          <a:p>
            <a:r>
              <a:rPr lang="en-US" sz="1500" dirty="0">
                <a:solidFill>
                  <a:srgbClr val="000000"/>
                </a:solidFill>
                <a:latin typeface="Arial" pitchFamily="34" charset="0"/>
              </a:rPr>
              <a:t>•  Battery energy fully available at start; 25% reserve held back</a:t>
            </a:r>
          </a:p>
          <a:p>
            <a:r>
              <a:rPr lang="en-US" sz="700" dirty="0">
                <a:solidFill>
                  <a:srgbClr val="000000"/>
                </a:solidFill>
                <a:latin typeface="Arial" pitchFamily="34" charset="0"/>
              </a:rPr>
              <a:t/>
            </a:r>
          </a:p>
          <a:p>
            <a:r>
              <a:rPr lang="en-US" sz="1600" b="1" dirty="0">
                <a:solidFill>
                  <a:srgbClr val="002060"/>
                </a:solidFill>
                <a:latin typeface="Arial" pitchFamily="34" charset="0"/>
              </a:rPr>
              <a:t>Constraints:</a:t>
            </a:r>
          </a:p>
          <a:p>
            <a:r>
              <a:rPr lang="en-US" sz="1500" dirty="0">
                <a:solidFill>
                  <a:srgbClr val="000000"/>
                </a:solidFill>
                <a:latin typeface="Arial" pitchFamily="34" charset="0"/>
              </a:rPr>
              <a:t>•  MTOW ≤ 2.0 kg (frame 460g + electronics + 200g payload = 1995g)</a:t>
            </a:r>
          </a:p>
          <a:p>
            <a:r>
              <a:rPr lang="en-US" sz="1500" dirty="0">
                <a:solidFill>
                  <a:srgbClr val="000000"/>
                </a:solidFill>
                <a:latin typeface="Arial" pitchFamily="34" charset="0"/>
              </a:rPr>
              <a:t>•  Battery: 14.8V 6800mAh 40C — max continuous discharge 272A, usable 74Wh (80% DoD)</a:t>
            </a:r>
          </a:p>
          <a:p>
            <a:r>
              <a:rPr lang="en-US" sz="1500" dirty="0">
                <a:solidFill>
                  <a:srgbClr val="000000"/>
                </a:solidFill>
                <a:latin typeface="Arial" pitchFamily="34" charset="0"/>
              </a:rPr>
              <a:t>•  Prop: APC1238 (R = 152.4mm), motor: EMAX MT3110 480KV, cruise speed 2–18 m/s range</a:t>
            </a:r>
          </a:p>
          <a:p>
            <a:r>
              <a:rPr lang="en-US" sz="700" dirty="0">
                <a:solidFill>
                  <a:srgbClr val="000000"/>
                </a:solidFill>
                <a:latin typeface="Arial" pitchFamily="34" charset="0"/>
              </a:rPr>
              <a:t/>
            </a:r>
          </a:p>
          <a:p>
            <a:r>
              <a:rPr lang="en-US" sz="1600" b="1" dirty="0">
                <a:solidFill>
                  <a:srgbClr val="002060"/>
                </a:solidFill>
                <a:latin typeface="Arial" pitchFamily="34" charset="0"/>
              </a:rPr>
              <a:t>Project Requirements:</a:t>
            </a:r>
          </a:p>
          <a:p>
            <a:r>
              <a:rPr lang="en-US" sz="1500" dirty="0">
                <a:solidFill>
                  <a:srgbClr val="000000"/>
                </a:solidFill>
                <a:latin typeface="Arial" pitchFamily="34" charset="0"/>
              </a:rPr>
              <a:t>•  Software: Python 3.x, NumPy, SciPy (minimize_scalar), Matplotlib</a:t>
            </a:r>
          </a:p>
          <a:p>
            <a:r>
              <a:rPr lang="en-US" sz="1500" dirty="0">
                <a:solidFill>
                  <a:srgbClr val="000000"/>
                </a:solidFill>
                <a:latin typeface="Arial" pitchFamily="34" charset="0"/>
              </a:rPr>
              <a:t>•  Hardware: Pixhawk PX4, Raspberry Pi 4B, Radiolink M10N GPS, Benewake TF-LC02 LiDAR</a:t>
            </a:r>
          </a:p>
          <a:p>
            <a:r>
              <a:rPr lang="en-US" sz="1500" dirty="0">
                <a:solidFill>
                  <a:srgbClr val="000000"/>
                </a:solidFill>
                <a:latin typeface="Arial" pitchFamily="34" charset="0"/>
              </a:rPr>
              <a:t>•  Camera: RPi Cam Module 3 AI (FOV 75°, 12MP), MLX90640 thermal</a:t>
            </a:r>
          </a:p>
          <a:p>
            <a:r>
              <a:rPr lang="en-US" sz="700" dirty="0">
                <a:solidFill>
                  <a:srgbClr val="000000"/>
                </a:solidFill>
                <a:latin typeface="Arial" pitchFamily="34" charset="0"/>
              </a:rPr>
              <a:t/>
            </a:r>
          </a:p>
          <a:p>
            <a:r>
              <a:rPr lang="en-US" sz="1600" b="1" dirty="0">
                <a:solidFill>
                  <a:srgbClr val="002060"/>
                </a:solidFill>
                <a:latin typeface="Arial" pitchFamily="34" charset="0"/>
              </a:rPr>
              <a:t>Applications:</a:t>
            </a:r>
          </a:p>
          <a:p>
            <a:r>
              <a:rPr lang="en-US" sz="1500" dirty="0">
                <a:solidFill>
                  <a:srgbClr val="000000"/>
                </a:solidFill>
                <a:latin typeface="Arial" pitchFamily="34" charset="0"/>
              </a:rPr>
              <a:t>•  Disaster reconnaissance •  Agricultural field survey •  Infrastructure inspection •  Competition missions (SAE Aerothon)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21613" y="81280"/>
            <a:ext cx="11348773" cy="1239520"/>
          </a:xfrm>
          <a:prstGeom prst="rect">
            <a:avLst/>
          </a:prstGeom>
        </p:spPr>
      </p:pic>
      <p:sp>
        <p:nvSpPr>
          <p:cNvPr id="4" name="TitleBox"/>
          <p:cNvSpPr txBox="1"/>
          <p:nvPr/>
        </p:nvSpPr>
        <p:spPr>
          <a:xfrm>
            <a:off x="274319" y="1320800"/>
            <a:ext cx="11643360" cy="600000"/>
          </a:xfrm>
          <a:prstGeom prst="rect">
            <a:avLst/>
          </a:prstGeom>
          <a:noFill/>
        </p:spPr>
        <p:txBody>
          <a:bodyPr wrap="square">
            <a:spAutoFit/>
          </a:bodyPr>
          <a:lstStyle/>
          <a:p>
            <a:r>
              <a:rPr lang="en-US" sz="2400" b="1" dirty="0">
                <a:solidFill>
                  <a:srgbClr val="002060"/>
                </a:solidFill>
                <a:latin typeface="Arial" pitchFamily="34" charset="0"/>
              </a:rPr>
              <a:t>Proposed Project Title:</a:t>
            </a:r>
          </a:p>
        </p:txBody>
      </p:sp>
      <p:sp>
        <p:nvSpPr>
          <p:cNvPr id="5" name="ContentBox"/>
          <p:cNvSpPr txBox="1"/>
          <p:nvPr/>
        </p:nvSpPr>
        <p:spPr>
          <a:xfrm>
            <a:off x="274319" y="2000000"/>
            <a:ext cx="11643360" cy="900000"/>
          </a:xfrm>
          <a:prstGeom prst="rect">
            <a:avLst/>
          </a:prstGeom>
          <a:noFill/>
        </p:spPr>
        <p:txBody>
          <a:bodyPr wrap="square">
            <a:spAutoFit/>
          </a:bodyPr>
          <a:lstStyle/>
          <a:p>
            <a:r>
              <a:rPr lang="en-US" sz="1800" b="1" i="1" dirty="0">
                <a:solidFill>
                  <a:srgbClr val="C00000"/>
                </a:solidFill>
                <a:latin typeface="Arial" pitchFamily="34" charset="0"/>
              </a:rPr>
              <a:t>Aeromechanical Performance-Based Mission Optimization for Multirotor UAVs</a:t>
            </a:r>
          </a:p>
          <a:p>
            <a:r>
              <a:rPr lang="en-US" sz="1400" i="1" dirty="0">
                <a:solidFill>
                  <a:srgbClr val="002060"/>
                </a:solidFill>
                <a:latin typeface="Arial" pitchFamily="34" charset="0"/>
              </a:rPr>
              <a:t>(Design-Aware Path Planning: linking drone mechanical design to energy-optimal autonomous survey missions)</a:t>
            </a:r>
          </a:p>
        </p:txBody>
      </p:sp>
      <p:sp>
        <p:nvSpPr>
          <p:cNvPr id="4" name="TitleBox"/>
          <p:cNvSpPr txBox="1"/>
          <p:nvPr/>
        </p:nvSpPr>
        <p:spPr>
          <a:xfrm>
            <a:off x="274319" y="3100000"/>
            <a:ext cx="11643360" cy="600000"/>
          </a:xfrm>
          <a:prstGeom prst="rect">
            <a:avLst/>
          </a:prstGeom>
          <a:noFill/>
        </p:spPr>
        <p:txBody>
          <a:bodyPr wrap="square">
            <a:spAutoFit/>
          </a:bodyPr>
          <a:lstStyle/>
          <a:p>
            <a:r>
              <a:rPr lang="en-US" sz="2200" b="1" dirty="0">
                <a:solidFill>
                  <a:srgbClr val="002060"/>
                </a:solidFill>
                <a:latin typeface="Arial" pitchFamily="34" charset="0"/>
              </a:rPr>
              <a:t>Objectives:</a:t>
            </a:r>
          </a:p>
        </p:txBody>
      </p:sp>
      <p:sp>
        <p:nvSpPr>
          <p:cNvPr id="6" name="ContentBox"/>
          <p:cNvSpPr txBox="1"/>
          <p:nvPr/>
        </p:nvSpPr>
        <p:spPr>
          <a:xfrm>
            <a:off x="274319" y="3700000"/>
            <a:ext cx="11643360" cy="3000000"/>
          </a:xfrm>
          <a:prstGeom prst="rect">
            <a:avLst/>
          </a:prstGeom>
          <a:noFill/>
        </p:spPr>
        <p:txBody>
          <a:bodyPr wrap="square">
            <a:spAutoFit/>
          </a:bodyPr>
          <a:lstStyle/>
          <a:p>
            <a:r>
              <a:rPr lang="en-US" sz="1500" dirty="0">
                <a:solidFill>
                  <a:srgbClr val="000000"/>
                </a:solidFill>
                <a:latin typeface="Arial" pitchFamily="34" charset="0"/>
              </a:rPr>
              <a:t>1.  Develop a parametric aeromechanical power model for multirotor UAVs using momentum theory + blade element analysis</a:t>
            </a:r>
          </a:p>
          <a:p>
            <a:r>
              <a:rPr lang="en-US" sz="1500" dirty="0">
                <a:solidFill>
                  <a:srgbClr val="000000"/>
                </a:solidFill>
                <a:latin typeface="Arial" pitchFamily="34" charset="0"/>
              </a:rPr>
              <a:t>2.  Derive optimal cruise speed V* = argmin(P(V)/V) for any given drone configuration</a:t>
            </a:r>
          </a:p>
          <a:p>
            <a:r>
              <a:rPr lang="en-US" sz="1500" dirty="0">
                <a:solidFill>
                  <a:srgbClr val="000000"/>
                </a:solidFill>
                <a:latin typeface="Arial" pitchFamily="34" charset="0"/>
              </a:rPr>
              <a:t>3.  Generate a complete mission flight plan: altitude, sweep spacing, turn radius, time, energy per mission</a:t>
            </a:r>
          </a:p>
          <a:p>
            <a:r>
              <a:rPr lang="en-US" sz="1500" dirty="0">
                <a:solidFill>
                  <a:srgbClr val="000000"/>
                </a:solidFill>
                <a:latin typeface="Arial" pitchFamily="34" charset="0"/>
              </a:rPr>
              <a:t>4.  Conduct parametric analysis: rotor count, payload mass, propeller radius, altitude, wind — with numerical results</a:t>
            </a:r>
          </a:p>
          <a:p>
            <a:r>
              <a:rPr lang="en-US" sz="1500" dirty="0">
                <a:solidFill>
                  <a:srgbClr val="000000"/>
                </a:solidFill>
                <a:latin typeface="Arial" pitchFamily="34" charset="0"/>
              </a:rPr>
              <a:t>5.  Validate model against measured specs of UIN2549 quadcopter (EMAX MT3110, APC1238, 14.8V 6.8Ah battery)</a:t>
            </a:r>
          </a:p>
          <a:p>
            <a:r>
              <a:rPr lang="en-US" sz="1500" dirty="0">
                <a:solidFill>
                  <a:srgbClr val="000000"/>
                </a:solidFill>
                <a:latin typeface="Arial" pitchFamily="34" charset="0"/>
              </a:rPr>
              <a:t>6.  Demonstrate feasibility check: mission energy vs usable battery for any field/drone combination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246BE-DA65-C2BD-A812-C04C03D96EF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B856490-0591-1AE2-CFB9-70E3B0D72887}"/>
              </a:ext>
            </a:extLst>
          </p:cNvPr>
          <p:cNvPicPr>
            <a:picLocks noChangeAspect="1"/>
          </p:cNvPicPr>
          <p:nvPr/>
        </p:nvPicPr>
        <p:blipFill>
          <a:blip r:embed="rId3"/>
          <a:stretch>
            <a:fillRect/>
          </a:stretch>
        </p:blipFill>
        <p:spPr>
          <a:xfrm>
            <a:off x="421613" y="81280"/>
            <a:ext cx="11348773" cy="1239520"/>
          </a:xfrm>
          <a:prstGeom prst="rect">
            <a:avLst/>
          </a:prstGeom>
        </p:spPr>
      </p:pic>
      <p:sp>
        <p:nvSpPr>
          <p:cNvPr id="3" name="TextBox 2">
            <a:extLst>
              <a:ext uri="{FF2B5EF4-FFF2-40B4-BE49-F238E27FC236}">
                <a16:creationId xmlns:a16="http://schemas.microsoft.com/office/drawing/2014/main" id="{41C1DB6B-1A68-05D5-0E34-4BCB224E0F9D}"/>
              </a:ext>
            </a:extLst>
          </p:cNvPr>
          <p:cNvSpPr txBox="1"/>
          <p:nvPr/>
        </p:nvSpPr>
        <p:spPr>
          <a:xfrm>
            <a:off x="554229" y="1443335"/>
            <a:ext cx="10586720" cy="5570756"/>
          </a:xfrm>
          <a:prstGeom prst="rect">
            <a:avLst/>
          </a:prstGeom>
          <a:noFill/>
        </p:spPr>
        <p:txBody>
          <a:bodyPr wrap="square">
            <a:spAutoFit/>
          </a:bodyPr>
          <a:lstStyle/>
          <a:p>
            <a:pPr algn="ctr"/>
            <a:r>
              <a:rPr lang="en-US" sz="2800" b="1" dirty="0">
                <a:solidFill>
                  <a:schemeClr val="accent5">
                    <a:lumMod val="50000"/>
                  </a:schemeClr>
                </a:solidFill>
                <a:latin typeface="Times New Roman" panose="02020603050405020304" pitchFamily="18" charset="0"/>
                <a:ea typeface="SimSun" panose="02010600030101010101" pitchFamily="2" charset="-122"/>
              </a:rPr>
              <a:t>L</a:t>
            </a:r>
            <a:r>
              <a:rPr lang="en-US" sz="2800" b="1" dirty="0">
                <a:solidFill>
                  <a:schemeClr val="accent5">
                    <a:lumMod val="50000"/>
                  </a:schemeClr>
                </a:solidFill>
                <a:effectLst/>
                <a:latin typeface="Times New Roman" panose="02020603050405020304" pitchFamily="18" charset="0"/>
                <a:ea typeface="SimSun" panose="02010600030101010101" pitchFamily="2" charset="-122"/>
              </a:rPr>
              <a:t xml:space="preserve">iterature survey and review of </a:t>
            </a:r>
            <a:r>
              <a:rPr lang="en-US" sz="2800" b="1" dirty="0">
                <a:solidFill>
                  <a:srgbClr val="FF0000"/>
                </a:solidFill>
                <a:effectLst/>
                <a:latin typeface="Times New Roman" panose="02020603050405020304" pitchFamily="18" charset="0"/>
                <a:ea typeface="SimSun" panose="02010600030101010101" pitchFamily="2" charset="-122"/>
              </a:rPr>
              <a:t xml:space="preserve">Minimum 10 </a:t>
            </a:r>
            <a:r>
              <a:rPr lang="en-US" sz="2800" b="1" dirty="0">
                <a:solidFill>
                  <a:schemeClr val="accent5">
                    <a:lumMod val="50000"/>
                  </a:schemeClr>
                </a:solidFill>
                <a:effectLst/>
                <a:latin typeface="Times New Roman" panose="02020603050405020304" pitchFamily="18" charset="0"/>
                <a:ea typeface="SimSun" panose="02010600030101010101" pitchFamily="2" charset="-122"/>
              </a:rPr>
              <a:t xml:space="preserve">research papers </a:t>
            </a:r>
          </a:p>
          <a:p>
            <a:pPr algn="ctr"/>
            <a:r>
              <a:rPr lang="en-US" sz="2400" b="1" dirty="0">
                <a:solidFill>
                  <a:schemeClr val="accent5">
                    <a:lumMod val="50000"/>
                  </a:schemeClr>
                </a:solidFill>
                <a:effectLst/>
                <a:latin typeface="Times New Roman" panose="02020603050405020304" pitchFamily="18" charset="0"/>
                <a:ea typeface="SimSun" panose="02010600030101010101" pitchFamily="2" charset="-122"/>
              </a:rPr>
              <a:t>(Scopus/SCI Indexed Journals), patents published, or any other technical paper published in an international journal.</a:t>
            </a:r>
            <a:endParaRPr lang="en-US" sz="2400" b="1" dirty="0">
              <a:solidFill>
                <a:schemeClr val="accent5">
                  <a:lumMod val="50000"/>
                </a:schemeClr>
              </a:solidFill>
              <a:latin typeface="Times New Roman" panose="02020603050405020304" pitchFamily="18" charset="0"/>
              <a:ea typeface="SimSun" panose="02010600030101010101" pitchFamily="2" charset="-122"/>
            </a:endParaRPr>
          </a:p>
          <a:p>
            <a:pPr algn="ctr"/>
            <a:endParaRPr lang="en-US" sz="2400" b="1" dirty="0">
              <a:solidFill>
                <a:schemeClr val="accent5">
                  <a:lumMod val="50000"/>
                </a:schemeClr>
              </a:solidFill>
              <a:latin typeface="Times New Roman" panose="02020603050405020304" pitchFamily="18" charset="0"/>
              <a:ea typeface="SimSun" panose="02010600030101010101" pitchFamily="2" charset="-122"/>
            </a:endParaRPr>
          </a:p>
          <a:p>
            <a:pPr marL="342900" indent="-342900">
              <a:buFont typeface="Wingdings" panose="05000000000000000000" pitchFamily="2" charset="2"/>
              <a:buChar char="Ø"/>
            </a:pPr>
            <a:r>
              <a:rPr lang="en-US" sz="2000" b="1" dirty="0">
                <a:solidFill>
                  <a:schemeClr val="accent2">
                    <a:lumMod val="75000"/>
                  </a:schemeClr>
                </a:solidFill>
                <a:effectLst/>
                <a:latin typeface="Times New Roman" panose="02020603050405020304" pitchFamily="18" charset="0"/>
                <a:ea typeface="SimSun" panose="02010600030101010101" pitchFamily="2" charset="-122"/>
              </a:rPr>
              <a:t>Title of the Paper</a:t>
            </a:r>
          </a:p>
          <a:p>
            <a:pPr marL="342900" indent="-342900">
              <a:buFont typeface="Wingdings" panose="05000000000000000000" pitchFamily="2" charset="2"/>
              <a:buChar char="Ø"/>
            </a:pPr>
            <a:r>
              <a:rPr lang="en-US" sz="2000" b="1" dirty="0">
                <a:solidFill>
                  <a:schemeClr val="accent2">
                    <a:lumMod val="75000"/>
                  </a:schemeClr>
                </a:solidFill>
                <a:effectLst/>
                <a:latin typeface="Times New Roman" panose="02020603050405020304" pitchFamily="18" charset="0"/>
                <a:ea typeface="SimSun" panose="02010600030101010101" pitchFamily="2" charset="-122"/>
              </a:rPr>
              <a:t>Author(s) &amp; Year of Publication</a:t>
            </a:r>
          </a:p>
          <a:p>
            <a:pPr marL="342900" indent="-342900">
              <a:buFont typeface="Wingdings" panose="05000000000000000000" pitchFamily="2" charset="2"/>
              <a:buChar char="Ø"/>
            </a:pPr>
            <a:r>
              <a:rPr lang="en-US" sz="2000" b="1" dirty="0">
                <a:solidFill>
                  <a:schemeClr val="accent2">
                    <a:lumMod val="75000"/>
                  </a:schemeClr>
                </a:solidFill>
                <a:effectLst/>
                <a:latin typeface="Times New Roman" panose="02020603050405020304" pitchFamily="18" charset="0"/>
                <a:ea typeface="SimSun" panose="02010600030101010101" pitchFamily="2" charset="-122"/>
              </a:rPr>
              <a:t>Journal / Conference / Publisher</a:t>
            </a:r>
          </a:p>
          <a:p>
            <a:pPr marL="342900" indent="-342900">
              <a:buFont typeface="Wingdings" panose="05000000000000000000" pitchFamily="2" charset="2"/>
              <a:buChar char="Ø"/>
            </a:pPr>
            <a:r>
              <a:rPr lang="en-US" sz="2000" b="1" dirty="0">
                <a:solidFill>
                  <a:schemeClr val="accent2">
                    <a:lumMod val="75000"/>
                  </a:schemeClr>
                </a:solidFill>
                <a:effectLst/>
                <a:latin typeface="Times New Roman" panose="02020603050405020304" pitchFamily="18" charset="0"/>
                <a:ea typeface="SimSun" panose="02010600030101010101" pitchFamily="2" charset="-122"/>
              </a:rPr>
              <a:t>Objective / Purpose of the Study</a:t>
            </a:r>
          </a:p>
          <a:p>
            <a:pPr marL="342900" indent="-342900">
              <a:buFont typeface="Wingdings" panose="05000000000000000000" pitchFamily="2" charset="2"/>
              <a:buChar char="Ø"/>
            </a:pPr>
            <a:r>
              <a:rPr lang="en-US" sz="2000" b="1" dirty="0">
                <a:solidFill>
                  <a:schemeClr val="accent2">
                    <a:lumMod val="75000"/>
                  </a:schemeClr>
                </a:solidFill>
                <a:effectLst/>
                <a:latin typeface="Times New Roman" panose="02020603050405020304" pitchFamily="18" charset="0"/>
                <a:ea typeface="SimSun" panose="02010600030101010101" pitchFamily="2" charset="-122"/>
              </a:rPr>
              <a:t>Methodology / Approach Used</a:t>
            </a:r>
          </a:p>
          <a:p>
            <a:pPr marL="342900" indent="-342900">
              <a:buFont typeface="Wingdings" panose="05000000000000000000" pitchFamily="2" charset="2"/>
              <a:buChar char="Ø"/>
            </a:pPr>
            <a:r>
              <a:rPr lang="en-US" sz="2000" b="1" dirty="0">
                <a:solidFill>
                  <a:schemeClr val="accent2">
                    <a:lumMod val="75000"/>
                  </a:schemeClr>
                </a:solidFill>
                <a:effectLst/>
                <a:latin typeface="Times New Roman" panose="02020603050405020304" pitchFamily="18" charset="0"/>
                <a:ea typeface="SimSun" panose="02010600030101010101" pitchFamily="2" charset="-122"/>
              </a:rPr>
              <a:t>Key Findings / Results</a:t>
            </a:r>
          </a:p>
          <a:p>
            <a:pPr marL="342900" indent="-342900">
              <a:buFont typeface="Wingdings" panose="05000000000000000000" pitchFamily="2" charset="2"/>
              <a:buChar char="Ø"/>
            </a:pPr>
            <a:r>
              <a:rPr lang="en-US" sz="2000" b="1" dirty="0">
                <a:solidFill>
                  <a:schemeClr val="accent2">
                    <a:lumMod val="75000"/>
                  </a:schemeClr>
                </a:solidFill>
                <a:effectLst/>
                <a:latin typeface="Times New Roman" panose="02020603050405020304" pitchFamily="18" charset="0"/>
                <a:ea typeface="SimSun" panose="02010600030101010101" pitchFamily="2" charset="-122"/>
              </a:rPr>
              <a:t>Limitations Identified</a:t>
            </a:r>
          </a:p>
          <a:p>
            <a:pPr marL="342900" indent="-342900">
              <a:buFont typeface="Wingdings" panose="05000000000000000000" pitchFamily="2" charset="2"/>
              <a:buChar char="Ø"/>
            </a:pPr>
            <a:r>
              <a:rPr lang="en-US" sz="2000" b="1" dirty="0">
                <a:solidFill>
                  <a:schemeClr val="accent2">
                    <a:lumMod val="75000"/>
                  </a:schemeClr>
                </a:solidFill>
                <a:effectLst/>
                <a:latin typeface="Times New Roman" panose="02020603050405020304" pitchFamily="18" charset="0"/>
                <a:ea typeface="SimSun" panose="02010600030101010101" pitchFamily="2" charset="-122"/>
              </a:rPr>
              <a:t>Relevance to Proposed Project</a:t>
            </a:r>
          </a:p>
          <a:p>
            <a:endParaRPr lang="en-US" sz="2400" b="1" dirty="0">
              <a:solidFill>
                <a:schemeClr val="accent5">
                  <a:lumMod val="50000"/>
                </a:schemeClr>
              </a:solidFill>
              <a:effectLst/>
              <a:latin typeface="Times New Roman" panose="02020603050405020304" pitchFamily="18" charset="0"/>
              <a:ea typeface="SimSun" panose="02010600030101010101" pitchFamily="2" charset="-122"/>
            </a:endParaRPr>
          </a:p>
          <a:p>
            <a:pPr marL="342900" indent="-342900" algn="just">
              <a:buFont typeface="Wingdings" panose="05000000000000000000" pitchFamily="2" charset="2"/>
              <a:buChar char="v"/>
            </a:pPr>
            <a:r>
              <a:rPr lang="en-US" sz="2400" dirty="0"/>
              <a:t xml:space="preserve">Use </a:t>
            </a:r>
            <a:r>
              <a:rPr lang="en-US" sz="2400" b="1" dirty="0"/>
              <a:t>one slide per paper</a:t>
            </a:r>
            <a:r>
              <a:rPr lang="en-US" sz="2400" dirty="0"/>
              <a:t xml:space="preserve"> (concise, point form).</a:t>
            </a:r>
            <a:r>
              <a:rPr lang="en-US" sz="2400" b="1" dirty="0">
                <a:solidFill>
                  <a:schemeClr val="accent5">
                    <a:lumMod val="50000"/>
                  </a:schemeClr>
                </a:solidFill>
                <a:effectLst/>
                <a:ea typeface="SimSun" panose="02010600030101010101" pitchFamily="2" charset="-122"/>
              </a:rPr>
              <a:t xml:space="preserve"> </a:t>
            </a:r>
          </a:p>
          <a:p>
            <a:pPr marL="342900" indent="-342900" algn="just">
              <a:buFont typeface="Wingdings" panose="05000000000000000000" pitchFamily="2" charset="2"/>
              <a:buChar char="v"/>
            </a:pPr>
            <a:r>
              <a:rPr lang="en-US" sz="2400" b="1" i="1" dirty="0">
                <a:effectLst/>
                <a:ea typeface="SimSun" panose="02010600030101010101" pitchFamily="2" charset="-122"/>
              </a:rPr>
              <a:t>Minimum 10 Quality Research papers to be included with understanding and justification</a:t>
            </a:r>
            <a:r>
              <a:rPr lang="en-US" sz="2400" b="1" i="1" dirty="0">
                <a:solidFill>
                  <a:schemeClr val="accent5">
                    <a:lumMod val="50000"/>
                  </a:schemeClr>
                </a:solidFill>
                <a:effectLst/>
                <a:latin typeface="Times New Roman" panose="02020603050405020304" pitchFamily="18" charset="0"/>
                <a:ea typeface="SimSun" panose="02010600030101010101" pitchFamily="2" charset="-122"/>
              </a:rPr>
              <a:t xml:space="preserve">. </a:t>
            </a:r>
            <a:endParaRPr lang="en-IN" sz="2400" b="1" dirty="0">
              <a:solidFill>
                <a:schemeClr val="accent5">
                  <a:lumMod val="50000"/>
                </a:schemeClr>
              </a:solidFill>
            </a:endParaRPr>
          </a:p>
        </p:txBody>
      </p:sp>
    </p:spTree>
    <p:extLst>
      <p:ext uri="{BB962C8B-B14F-4D97-AF65-F5344CB8AC3E}">
        <p14:creationId xmlns:p14="http://schemas.microsoft.com/office/powerpoint/2010/main" val="1531870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49977-64FD-BB48-2E7E-4580CF8DC3D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5191935-D08E-CF08-4ABD-0FB5614D4AAC}"/>
              </a:ext>
            </a:extLst>
          </p:cNvPr>
          <p:cNvPicPr>
            <a:picLocks noChangeAspect="1"/>
          </p:cNvPicPr>
          <p:nvPr/>
        </p:nvPicPr>
        <p:blipFill>
          <a:blip r:embed="rId3"/>
          <a:stretch>
            <a:fillRect/>
          </a:stretch>
        </p:blipFill>
        <p:spPr>
          <a:xfrm>
            <a:off x="421613" y="81280"/>
            <a:ext cx="11348773" cy="1239520"/>
          </a:xfrm>
          <a:prstGeom prst="rect">
            <a:avLst/>
          </a:prstGeom>
        </p:spPr>
      </p:pic>
      <p:sp>
        <p:nvSpPr>
          <p:cNvPr id="3" name="TextBox 2">
            <a:extLst>
              <a:ext uri="{FF2B5EF4-FFF2-40B4-BE49-F238E27FC236}">
                <a16:creationId xmlns:a16="http://schemas.microsoft.com/office/drawing/2014/main" id="{D9957012-4D2A-5F2E-5629-AC87A0C17AC5}"/>
              </a:ext>
            </a:extLst>
          </p:cNvPr>
          <p:cNvSpPr txBox="1"/>
          <p:nvPr/>
        </p:nvSpPr>
        <p:spPr>
          <a:xfrm>
            <a:off x="554229" y="1443335"/>
            <a:ext cx="10586720" cy="1261884"/>
          </a:xfrm>
          <a:prstGeom prst="rect">
            <a:avLst/>
          </a:prstGeom>
          <a:noFill/>
        </p:spPr>
        <p:txBody>
          <a:bodyPr wrap="square">
            <a:spAutoFit/>
          </a:bodyPr>
          <a:lstStyle/>
          <a:p>
            <a:pPr algn="ctr"/>
            <a:r>
              <a:rPr lang="en-US" sz="2800" b="1" dirty="0">
                <a:solidFill>
                  <a:schemeClr val="accent5">
                    <a:lumMod val="50000"/>
                  </a:schemeClr>
                </a:solidFill>
                <a:latin typeface="Times New Roman" panose="02020603050405020304" pitchFamily="18" charset="0"/>
                <a:ea typeface="SimSun" panose="02010600030101010101" pitchFamily="2" charset="-122"/>
              </a:rPr>
              <a:t>L</a:t>
            </a:r>
            <a:r>
              <a:rPr lang="en-US" sz="2800" b="1" dirty="0">
                <a:solidFill>
                  <a:schemeClr val="accent5">
                    <a:lumMod val="50000"/>
                  </a:schemeClr>
                </a:solidFill>
                <a:effectLst/>
                <a:latin typeface="Times New Roman" panose="02020603050405020304" pitchFamily="18" charset="0"/>
                <a:ea typeface="SimSun" panose="02010600030101010101" pitchFamily="2" charset="-122"/>
              </a:rPr>
              <a:t xml:space="preserve">iterature survey and review of </a:t>
            </a:r>
            <a:r>
              <a:rPr lang="en-US" sz="2800" b="1" dirty="0">
                <a:solidFill>
                  <a:srgbClr val="FF0000"/>
                </a:solidFill>
                <a:effectLst/>
                <a:latin typeface="Times New Roman" panose="02020603050405020304" pitchFamily="18" charset="0"/>
                <a:ea typeface="SimSun" panose="02010600030101010101" pitchFamily="2" charset="-122"/>
              </a:rPr>
              <a:t xml:space="preserve">Minimum 10 </a:t>
            </a:r>
            <a:r>
              <a:rPr lang="en-US" sz="2800" b="1" dirty="0">
                <a:solidFill>
                  <a:schemeClr val="accent5">
                    <a:lumMod val="50000"/>
                  </a:schemeClr>
                </a:solidFill>
                <a:effectLst/>
                <a:latin typeface="Times New Roman" panose="02020603050405020304" pitchFamily="18" charset="0"/>
                <a:ea typeface="SimSun" panose="02010600030101010101" pitchFamily="2" charset="-122"/>
              </a:rPr>
              <a:t xml:space="preserve">research papers </a:t>
            </a:r>
          </a:p>
          <a:p>
            <a:pPr algn="ctr"/>
            <a:endParaRPr lang="en-US" sz="2400" b="1" dirty="0">
              <a:solidFill>
                <a:schemeClr val="accent5">
                  <a:lumMod val="50000"/>
                </a:schemeClr>
              </a:solidFill>
              <a:latin typeface="Times New Roman" panose="02020603050405020304" pitchFamily="18" charset="0"/>
              <a:ea typeface="SimSun" panose="02010600030101010101" pitchFamily="2" charset="-122"/>
            </a:endParaRPr>
          </a:p>
          <a:p>
            <a:pPr algn="ctr"/>
            <a:r>
              <a:rPr lang="en-US" sz="2400" b="1" dirty="0">
                <a:solidFill>
                  <a:schemeClr val="accent5">
                    <a:lumMod val="50000"/>
                  </a:schemeClr>
                </a:solidFill>
                <a:highlight>
                  <a:srgbClr val="FFFF00"/>
                </a:highlight>
                <a:latin typeface="Times New Roman" panose="02020603050405020304" pitchFamily="18" charset="0"/>
                <a:ea typeface="SimSun" panose="02010600030101010101" pitchFamily="2" charset="-122"/>
              </a:rPr>
              <a:t xml:space="preserve">Summery and Analysis of alternatives (Methodologies) </a:t>
            </a:r>
          </a:p>
        </p:txBody>
      </p:sp>
      <p:graphicFrame>
        <p:nvGraphicFramePr>
          <p:cNvPr id="11" name="Table 10">
            <a:extLst>
              <a:ext uri="{FF2B5EF4-FFF2-40B4-BE49-F238E27FC236}">
                <a16:creationId xmlns:a16="http://schemas.microsoft.com/office/drawing/2014/main" id="{8E7B62DA-DD94-3F07-3691-946B03476403}"/>
              </a:ext>
            </a:extLst>
          </p:cNvPr>
          <p:cNvGraphicFramePr>
            <a:graphicFrameLocks noGrp="1"/>
          </p:cNvGraphicFramePr>
          <p:nvPr>
            <p:extLst>
              <p:ext uri="{D42A27DB-BD31-4B8C-83A1-F6EECF244321}">
                <p14:modId xmlns:p14="http://schemas.microsoft.com/office/powerpoint/2010/main" val="2178804549"/>
              </p:ext>
            </p:extLst>
          </p:nvPr>
        </p:nvGraphicFramePr>
        <p:xfrm>
          <a:off x="462020" y="2705219"/>
          <a:ext cx="11267960" cy="2904400"/>
        </p:xfrm>
        <a:graphic>
          <a:graphicData uri="http://schemas.openxmlformats.org/drawingml/2006/table">
            <a:tbl>
              <a:tblPr firstRow="1" firstCol="1" bandRow="1">
                <a:tableStyleId>{5940675A-B579-460E-94D1-54222C63F5DA}</a:tableStyleId>
              </a:tblPr>
              <a:tblGrid>
                <a:gridCol w="480688">
                  <a:extLst>
                    <a:ext uri="{9D8B030D-6E8A-4147-A177-3AD203B41FA5}">
                      <a16:colId xmlns:a16="http://schemas.microsoft.com/office/drawing/2014/main" val="2356967870"/>
                    </a:ext>
                  </a:extLst>
                </a:gridCol>
                <a:gridCol w="1014931">
                  <a:extLst>
                    <a:ext uri="{9D8B030D-6E8A-4147-A177-3AD203B41FA5}">
                      <a16:colId xmlns:a16="http://schemas.microsoft.com/office/drawing/2014/main" val="3410778072"/>
                    </a:ext>
                  </a:extLst>
                </a:gridCol>
                <a:gridCol w="1829094">
                  <a:extLst>
                    <a:ext uri="{9D8B030D-6E8A-4147-A177-3AD203B41FA5}">
                      <a16:colId xmlns:a16="http://schemas.microsoft.com/office/drawing/2014/main" val="3353804761"/>
                    </a:ext>
                  </a:extLst>
                </a:gridCol>
                <a:gridCol w="3203113">
                  <a:extLst>
                    <a:ext uri="{9D8B030D-6E8A-4147-A177-3AD203B41FA5}">
                      <a16:colId xmlns:a16="http://schemas.microsoft.com/office/drawing/2014/main" val="2034283955"/>
                    </a:ext>
                  </a:extLst>
                </a:gridCol>
                <a:gridCol w="1584960">
                  <a:extLst>
                    <a:ext uri="{9D8B030D-6E8A-4147-A177-3AD203B41FA5}">
                      <a16:colId xmlns:a16="http://schemas.microsoft.com/office/drawing/2014/main" val="2728182427"/>
                    </a:ext>
                  </a:extLst>
                </a:gridCol>
                <a:gridCol w="1422400">
                  <a:extLst>
                    <a:ext uri="{9D8B030D-6E8A-4147-A177-3AD203B41FA5}">
                      <a16:colId xmlns:a16="http://schemas.microsoft.com/office/drawing/2014/main" val="2450100926"/>
                    </a:ext>
                  </a:extLst>
                </a:gridCol>
                <a:gridCol w="1732774">
                  <a:extLst>
                    <a:ext uri="{9D8B030D-6E8A-4147-A177-3AD203B41FA5}">
                      <a16:colId xmlns:a16="http://schemas.microsoft.com/office/drawing/2014/main" val="1920437359"/>
                    </a:ext>
                  </a:extLst>
                </a:gridCol>
              </a:tblGrid>
              <a:tr h="548640">
                <a:tc>
                  <a:txBody>
                    <a:bodyPr/>
                    <a:lstStyle/>
                    <a:p>
                      <a:pPr>
                        <a:lnSpc>
                          <a:spcPct val="107000"/>
                        </a:lnSpc>
                        <a:spcAft>
                          <a:spcPts val="800"/>
                        </a:spcAft>
                        <a:buNone/>
                      </a:pPr>
                      <a:r>
                        <a:rPr lang="en-IN" sz="1400" b="1" kern="100" dirty="0">
                          <a:effectLst/>
                          <a:latin typeface="Times New Roman" panose="02020603050405020304" pitchFamily="18" charset="0"/>
                          <a:cs typeface="Times New Roman" panose="02020603050405020304" pitchFamily="18" charset="0"/>
                        </a:rPr>
                        <a:t>Sr. No</a:t>
                      </a:r>
                      <a:r>
                        <a:rPr lang="en-IN" sz="1200" b="1" kern="100" dirty="0">
                          <a:effectLst/>
                          <a:latin typeface="Times New Roman" panose="02020603050405020304" pitchFamily="18" charset="0"/>
                          <a:cs typeface="Times New Roman" panose="02020603050405020304" pitchFamily="18" charset="0"/>
                        </a:rPr>
                        <a:t>.</a:t>
                      </a:r>
                      <a:endPar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600" b="1" kern="100" dirty="0">
                          <a:effectLst/>
                          <a:latin typeface="Times New Roman" panose="02020603050405020304" pitchFamily="18" charset="0"/>
                          <a:cs typeface="Times New Roman" panose="02020603050405020304" pitchFamily="18" charset="0"/>
                        </a:rPr>
                        <a:t>Method / Approach</a:t>
                      </a:r>
                      <a:endPar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600" b="1" kern="100" dirty="0">
                          <a:effectLst/>
                          <a:latin typeface="Times New Roman" panose="02020603050405020304" pitchFamily="18" charset="0"/>
                          <a:cs typeface="Times New Roman" panose="02020603050405020304" pitchFamily="18" charset="0"/>
                        </a:rPr>
                        <a:t>Reference (Author, Year)</a:t>
                      </a:r>
                      <a:endPar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600" b="1" kern="100" dirty="0">
                          <a:effectLst/>
                          <a:latin typeface="Times New Roman" panose="02020603050405020304" pitchFamily="18" charset="0"/>
                          <a:cs typeface="Times New Roman" panose="02020603050405020304" pitchFamily="18" charset="0"/>
                        </a:rPr>
                        <a:t>Key Concept / Working Principle</a:t>
                      </a:r>
                      <a:endPar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600" b="1" kern="100">
                          <a:effectLst/>
                          <a:latin typeface="Times New Roman" panose="02020603050405020304" pitchFamily="18" charset="0"/>
                          <a:cs typeface="Times New Roman" panose="02020603050405020304" pitchFamily="18" charset="0"/>
                        </a:rPr>
                        <a:t>Advantages</a:t>
                      </a:r>
                      <a:endParaRPr lang="en-IN" sz="1600" b="1"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600" b="1" kern="100" dirty="0">
                          <a:effectLst/>
                          <a:latin typeface="Times New Roman" panose="02020603050405020304" pitchFamily="18" charset="0"/>
                          <a:cs typeface="Times New Roman" panose="02020603050405020304" pitchFamily="18" charset="0"/>
                        </a:rPr>
                        <a:t>Limitations</a:t>
                      </a:r>
                      <a:endPar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600" b="1" kern="100" dirty="0">
                          <a:effectLst/>
                          <a:latin typeface="Times New Roman" panose="02020603050405020304" pitchFamily="18" charset="0"/>
                          <a:cs typeface="Times New Roman" panose="02020603050405020304" pitchFamily="18" charset="0"/>
                        </a:rPr>
                        <a:t>Suitability to Our Project</a:t>
                      </a:r>
                      <a:endPar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31785159"/>
                  </a:ext>
                </a:extLst>
              </a:tr>
              <a:tr h="235576">
                <a:tc>
                  <a:txBody>
                    <a:bodyPr/>
                    <a:lstStyle/>
                    <a:p>
                      <a:pPr>
                        <a:lnSpc>
                          <a:spcPct val="107000"/>
                        </a:lnSpc>
                        <a:spcAft>
                          <a:spcPts val="800"/>
                        </a:spcAft>
                        <a:buNone/>
                      </a:pPr>
                      <a:r>
                        <a:rPr lang="en-IN" sz="1200" kern="100">
                          <a:effectLst/>
                        </a:rPr>
                        <a:t>1</a:t>
                      </a:r>
                      <a:endParaRPr lang="en-IN" sz="1200" kern="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buNone/>
                      </a:pPr>
                      <a:endParaRPr lang="en-IN" sz="1200" kern="10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747328306"/>
                  </a:ext>
                </a:extLst>
              </a:tr>
              <a:tr h="235576">
                <a:tc>
                  <a:txBody>
                    <a:bodyPr/>
                    <a:lstStyle/>
                    <a:p>
                      <a:pPr>
                        <a:lnSpc>
                          <a:spcPct val="107000"/>
                        </a:lnSpc>
                        <a:spcAft>
                          <a:spcPts val="800"/>
                        </a:spcAft>
                        <a:buNone/>
                      </a:pPr>
                      <a:r>
                        <a:rPr lang="en-IN" sz="1200" kern="100">
                          <a:effectLst/>
                        </a:rPr>
                        <a:t>2</a:t>
                      </a:r>
                      <a:endParaRPr lang="en-IN" sz="1200" kern="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buNone/>
                      </a:pPr>
                      <a:endParaRPr lang="en-IN" sz="1200" kern="10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073060075"/>
                  </a:ext>
                </a:extLst>
              </a:tr>
              <a:tr h="235576">
                <a:tc>
                  <a:txBody>
                    <a:bodyPr/>
                    <a:lstStyle/>
                    <a:p>
                      <a:pPr>
                        <a:lnSpc>
                          <a:spcPct val="107000"/>
                        </a:lnSpc>
                        <a:spcAft>
                          <a:spcPts val="800"/>
                        </a:spcAft>
                        <a:buNone/>
                      </a:pPr>
                      <a:r>
                        <a:rPr lang="en-IN" sz="1200" kern="100">
                          <a:effectLst/>
                        </a:rPr>
                        <a:t>3</a:t>
                      </a:r>
                      <a:endParaRPr lang="en-IN" sz="1200" kern="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buNone/>
                      </a:pPr>
                      <a:endParaRPr lang="en-IN" sz="1200" kern="10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345369364"/>
                  </a:ext>
                </a:extLst>
              </a:tr>
              <a:tr h="235576">
                <a:tc>
                  <a:txBody>
                    <a:bodyPr/>
                    <a:lstStyle/>
                    <a:p>
                      <a:pPr>
                        <a:lnSpc>
                          <a:spcPct val="107000"/>
                        </a:lnSpc>
                        <a:spcAft>
                          <a:spcPts val="800"/>
                        </a:spcAft>
                        <a:buNone/>
                      </a:pPr>
                      <a:r>
                        <a:rPr lang="en-IN" sz="1200" kern="100">
                          <a:effectLst/>
                        </a:rPr>
                        <a:t>4</a:t>
                      </a:r>
                      <a:endParaRPr lang="en-IN" sz="1200" kern="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buNone/>
                      </a:pPr>
                      <a:endParaRPr lang="en-IN" sz="1200" kern="10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972361414"/>
                  </a:ext>
                </a:extLst>
              </a:tr>
              <a:tr h="235576">
                <a:tc>
                  <a:txBody>
                    <a:bodyPr/>
                    <a:lstStyle/>
                    <a:p>
                      <a:pPr>
                        <a:lnSpc>
                          <a:spcPct val="107000"/>
                        </a:lnSpc>
                        <a:spcAft>
                          <a:spcPts val="800"/>
                        </a:spcAft>
                        <a:buNone/>
                      </a:pPr>
                      <a:r>
                        <a:rPr lang="en-IN" sz="1200" kern="100">
                          <a:effectLst/>
                        </a:rPr>
                        <a:t>5</a:t>
                      </a:r>
                      <a:endParaRPr lang="en-IN" sz="1200" kern="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buNone/>
                      </a:pPr>
                      <a:endParaRPr lang="en-IN" sz="1200" kern="10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293455734"/>
                  </a:ext>
                </a:extLst>
              </a:tr>
              <a:tr h="235576">
                <a:tc>
                  <a:txBody>
                    <a:bodyPr/>
                    <a:lstStyle/>
                    <a:p>
                      <a:pPr>
                        <a:lnSpc>
                          <a:spcPct val="107000"/>
                        </a:lnSpc>
                        <a:spcAft>
                          <a:spcPts val="800"/>
                        </a:spcAft>
                        <a:buNone/>
                      </a:pPr>
                      <a:endParaRPr lang="en-IN" sz="12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515143368"/>
                  </a:ext>
                </a:extLst>
              </a:tr>
              <a:tr h="235576">
                <a:tc>
                  <a:txBody>
                    <a:bodyPr/>
                    <a:lstStyle/>
                    <a:p>
                      <a:pPr>
                        <a:lnSpc>
                          <a:spcPct val="107000"/>
                        </a:lnSpc>
                        <a:spcAft>
                          <a:spcPts val="800"/>
                        </a:spcAft>
                        <a:buNone/>
                      </a:pPr>
                      <a:endParaRPr lang="en-IN" sz="12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748376000"/>
                  </a:ext>
                </a:extLst>
              </a:tr>
              <a:tr h="235576">
                <a:tc>
                  <a:txBody>
                    <a:bodyPr/>
                    <a:lstStyle/>
                    <a:p>
                      <a:pPr>
                        <a:lnSpc>
                          <a:spcPct val="107000"/>
                        </a:lnSpc>
                        <a:spcAft>
                          <a:spcPts val="800"/>
                        </a:spcAft>
                        <a:buNone/>
                      </a:pPr>
                      <a:endParaRPr lang="en-IN" sz="12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193909288"/>
                  </a:ext>
                </a:extLst>
              </a:tr>
              <a:tr h="235576">
                <a:tc>
                  <a:txBody>
                    <a:bodyPr/>
                    <a:lstStyle/>
                    <a:p>
                      <a:pPr>
                        <a:lnSpc>
                          <a:spcPct val="107000"/>
                        </a:lnSpc>
                        <a:spcAft>
                          <a:spcPts val="800"/>
                        </a:spcAft>
                        <a:buNone/>
                      </a:pPr>
                      <a:endParaRPr lang="en-IN" sz="12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906208788"/>
                  </a:ext>
                </a:extLst>
              </a:tr>
              <a:tr h="235576">
                <a:tc>
                  <a:txBody>
                    <a:bodyPr/>
                    <a:lstStyle/>
                    <a:p>
                      <a:pPr>
                        <a:lnSpc>
                          <a:spcPct val="107000"/>
                        </a:lnSpc>
                        <a:spcAft>
                          <a:spcPts val="800"/>
                        </a:spcAft>
                        <a:buNone/>
                      </a:pPr>
                      <a:endParaRPr lang="en-IN" sz="120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tc>
                  <a:txBody>
                    <a:bodyPr/>
                    <a:lstStyle/>
                    <a:p>
                      <a:pPr>
                        <a:buNone/>
                      </a:pPr>
                      <a:endParaRPr lang="en-IN" sz="1200" kern="100" dirty="0">
                        <a:effectLst/>
                        <a:latin typeface="Arial" panose="020B06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955699965"/>
                  </a:ext>
                </a:extLst>
              </a:tr>
            </a:tbl>
          </a:graphicData>
        </a:graphic>
      </p:graphicFrame>
    </p:spTree>
    <p:extLst>
      <p:ext uri="{BB962C8B-B14F-4D97-AF65-F5344CB8AC3E}">
        <p14:creationId xmlns:p14="http://schemas.microsoft.com/office/powerpoint/2010/main" val="39511090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21613" y="81280"/>
            <a:ext cx="11348773" cy="1239520"/>
          </a:xfrm>
          <a:prstGeom prst="rect">
            <a:avLst/>
          </a:prstGeom>
        </p:spPr>
      </p:pic>
      <p:sp>
        <p:nvSpPr>
          <p:cNvPr id="4" name="TitleBox"/>
          <p:cNvSpPr txBox="1"/>
          <p:nvPr/>
        </p:nvSpPr>
        <p:spPr>
          <a:xfrm>
            <a:off x="274319" y="1320800"/>
            <a:ext cx="11643360" cy="600000"/>
          </a:xfrm>
          <a:prstGeom prst="rect">
            <a:avLst/>
          </a:prstGeom>
          <a:noFill/>
        </p:spPr>
        <p:txBody>
          <a:bodyPr wrap="square">
            <a:spAutoFit/>
          </a:bodyPr>
          <a:lstStyle/>
          <a:p>
            <a:r>
              <a:rPr lang="en-US" sz="2400" b="1" dirty="0">
                <a:solidFill>
                  <a:srgbClr val="002060"/>
                </a:solidFill>
                <a:latin typeface="Arial" pitchFamily="34" charset="0"/>
              </a:rPr>
              <a:t>Methodology: Physics-Based Power Model</a:t>
            </a:r>
          </a:p>
        </p:txBody>
      </p:sp>
      <p:sp>
        <p:nvSpPr>
          <p:cNvPr id="5" name="ContentBox"/>
          <p:cNvSpPr txBox="1"/>
          <p:nvPr/>
        </p:nvSpPr>
        <p:spPr>
          <a:xfrm>
            <a:off x="274319" y="2050000"/>
            <a:ext cx="11643360" cy="4700000"/>
          </a:xfrm>
          <a:prstGeom prst="rect">
            <a:avLst/>
          </a:prstGeom>
          <a:noFill/>
        </p:spPr>
        <p:txBody>
          <a:bodyPr wrap="square">
            <a:spAutoFit/>
          </a:bodyPr>
          <a:lstStyle/>
          <a:p>
            <a:r>
              <a:rPr lang="en-US" sz="1700" b="1" dirty="0">
                <a:solidFill>
                  <a:srgbClr val="002060"/>
                </a:solidFill>
                <a:latin typeface="Arial" pitchFamily="34" charset="0"/>
              </a:rPr>
              <a:t>Total Power at Forward Speed V:</a:t>
            </a:r>
          </a:p>
          <a:p>
            <a:r>
              <a:rPr lang="en-US" sz="1800" b="1" dirty="0">
                <a:solidFill>
                  <a:srgbClr val="C00000"/>
                </a:solidFill>
                <a:latin typeface="Arial" pitchFamily="34" charset="0"/>
              </a:rPr>
              <a:t xml:space="preserve">        P(V)  =  P_induced(V)  +  P_profile  +  P_parasitic(V)</a:t>
            </a:r>
          </a:p>
          <a:p>
            <a:r>
              <a:rPr lang="en-US" sz="600" dirty="0">
                <a:solidFill>
                  <a:srgbClr val="000000"/>
                </a:solidFill>
                <a:latin typeface="Arial" pitchFamily="34" charset="0"/>
              </a:rPr>
              <a:t/>
            </a:r>
          </a:p>
          <a:p>
            <a:r>
              <a:rPr lang="en-US" sz="1600" b="1" dirty="0">
                <a:solidFill>
                  <a:srgbClr val="002060"/>
                </a:solidFill>
                <a:latin typeface="Arial" pitchFamily="34" charset="0"/>
              </a:rPr>
              <a:t>P_induced(V) — Lift Power [Glauert forward-flight model]:</a:t>
            </a:r>
          </a:p>
          <a:p>
            <a:r>
              <a:rPr lang="en-US" sz="1500" dirty="0">
                <a:solidFill>
                  <a:srgbClr val="000000"/>
                </a:solidFill>
                <a:latin typeface="Arial" pitchFamily="34" charset="0"/>
              </a:rPr>
              <a:t xml:space="preserve">        v_i⁴ + V²·v_i² − v_h⁴ = 0   solved for v_i   →   P_ind = K · T · v_i</a:t>
            </a:r>
          </a:p>
          <a:p>
            <a:r>
              <a:rPr lang="en-US" sz="1400" dirty="0">
                <a:solidFill>
                  <a:srgbClr val="595959"/>
                </a:solidFill>
                <a:latin typeface="Arial" pitchFamily="34" charset="0"/>
              </a:rPr>
              <a:t xml:space="preserve">        where v_h = √(T / 2ρA)  is hover induced velocity, K = 1.15 (tip loss correction)</a:t>
            </a:r>
          </a:p>
          <a:p>
            <a:r>
              <a:rPr lang="en-US" sz="600" dirty="0">
                <a:solidFill>
                  <a:srgbClr val="000000"/>
                </a:solidFill>
                <a:latin typeface="Arial" pitchFamily="34" charset="0"/>
              </a:rPr>
              <a:t/>
            </a:r>
          </a:p>
          <a:p>
            <a:r>
              <a:rPr lang="en-US" sz="1600" b="1" dirty="0">
                <a:solidFill>
                  <a:srgbClr val="002060"/>
                </a:solidFill>
                <a:latin typeface="Arial" pitchFamily="34" charset="0"/>
              </a:rPr>
              <a:t>P_profile — Blade Profile Drag [constant w.r.t. speed]:</a:t>
            </a:r>
          </a:p>
          <a:p>
            <a:r>
              <a:rPr lang="en-US" sz="1500" dirty="0">
                <a:solidFill>
                  <a:srgbClr val="000000"/>
                </a:solidFill>
                <a:latin typeface="Arial" pitchFamily="34" charset="0"/>
              </a:rPr>
              <a:t xml:space="preserve">        P_pro = N · (σ·Cd0/8) · ρ · A_rotor · V_tip³</a:t>
            </a:r>
          </a:p>
          <a:p>
            <a:r>
              <a:rPr lang="en-US" sz="1400" dirty="0">
                <a:solidFill>
                  <a:srgbClr val="595959"/>
                </a:solidFill>
                <a:latin typeface="Arial" pitchFamily="34" charset="0"/>
              </a:rPr>
              <a:t xml:space="preserve">        σ = 0.05 (solidity), Cd0 = 0.015, V_tip = 150 m/s</a:t>
            </a:r>
          </a:p>
          <a:p>
            <a:r>
              <a:rPr lang="en-US" sz="600" dirty="0">
                <a:solidFill>
                  <a:srgbClr val="000000"/>
                </a:solidFill>
                <a:latin typeface="Arial" pitchFamily="34" charset="0"/>
              </a:rPr>
              <a:t/>
            </a:r>
          </a:p>
          <a:p>
            <a:r>
              <a:rPr lang="en-US" sz="1600" b="1" dirty="0">
                <a:solidFill>
                  <a:srgbClr val="002060"/>
                </a:solidFill>
                <a:latin typeface="Arial" pitchFamily="34" charset="0"/>
              </a:rPr>
              <a:t>P_parasitic — Airframe Drag [cube law]:</a:t>
            </a:r>
          </a:p>
          <a:p>
            <a:r>
              <a:rPr lang="en-US" sz="1500" dirty="0">
                <a:solidFill>
                  <a:srgbClr val="000000"/>
                </a:solidFill>
                <a:latin typeface="Arial" pitchFamily="34" charset="0"/>
              </a:rPr>
              <a:t xml:space="preserve">        P_par = 0.5 · ρ · Cd · A_front · V³     Cd = 0.80, A_front = 0.12 m²</a:t>
            </a:r>
          </a:p>
          <a:p>
            <a:r>
              <a:rPr lang="en-US" sz="600" dirty="0">
                <a:solidFill>
                  <a:srgbClr val="000000"/>
                </a:solidFill>
                <a:latin typeface="Arial" pitchFamily="34" charset="0"/>
              </a:rPr>
              <a:t/>
            </a:r>
          </a:p>
          <a:p>
            <a:r>
              <a:rPr lang="en-US" sz="1600" b="1" dirty="0">
                <a:solidFill>
                  <a:srgbClr val="002060"/>
                </a:solidFill>
                <a:latin typeface="Arial" pitchFamily="34" charset="0"/>
              </a:rPr>
              <a:t>Optimal Cruise Speed:</a:t>
            </a:r>
          </a:p>
          <a:p>
            <a:r>
              <a:rPr lang="en-US" sz="1500" dirty="0">
                <a:solidFill>
                  <a:srgbClr val="000000"/>
                </a:solidFill>
                <a:latin typeface="Arial" pitchFamily="34" charset="0"/>
              </a:rPr>
              <a:t xml:space="preserve">        V* = argmin( P(V) / V )   →   minimises energy per metre, NOT minimum power</a:t>
            </a:r>
          </a:p>
          <a:p>
            <a:r>
              <a:rPr lang="en-US" sz="1500" b="1" dirty="0">
                <a:solidFill>
                  <a:srgbClr val="C00000"/>
                </a:solidFill>
                <a:latin typeface="Arial" pitchFamily="34" charset="0"/>
              </a:rPr>
              <a:t xml:space="preserve">        For UIN2549 Quadcopter:  V* = 11.1 m/s,  P* = 204 W,  E/m = 18.3 J/m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FB043-825E-153E-2A57-60D5795B947C}"/>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B4ABE80E-AC16-24BC-640A-ECE66F1B0C6A}"/>
              </a:ext>
            </a:extLst>
          </p:cNvPr>
          <p:cNvSpPr/>
          <p:nvPr/>
        </p:nvSpPr>
        <p:spPr>
          <a:xfrm>
            <a:off x="304800" y="1366966"/>
            <a:ext cx="6192546" cy="5226874"/>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a:extLst>
              <a:ext uri="{FF2B5EF4-FFF2-40B4-BE49-F238E27FC236}">
                <a16:creationId xmlns:a16="http://schemas.microsoft.com/office/drawing/2014/main" id="{0799504B-BA97-999D-084C-F0E27D997A36}"/>
              </a:ext>
            </a:extLst>
          </p:cNvPr>
          <p:cNvPicPr>
            <a:picLocks noChangeAspect="1"/>
          </p:cNvPicPr>
          <p:nvPr/>
        </p:nvPicPr>
        <p:blipFill>
          <a:blip r:embed="rId3"/>
          <a:stretch>
            <a:fillRect/>
          </a:stretch>
        </p:blipFill>
        <p:spPr>
          <a:xfrm>
            <a:off x="421613" y="81280"/>
            <a:ext cx="11348773" cy="1239520"/>
          </a:xfrm>
          <a:prstGeom prst="rect">
            <a:avLst/>
          </a:prstGeom>
        </p:spPr>
      </p:pic>
      <p:sp>
        <p:nvSpPr>
          <p:cNvPr id="3" name="TextBox 2">
            <a:extLst>
              <a:ext uri="{FF2B5EF4-FFF2-40B4-BE49-F238E27FC236}">
                <a16:creationId xmlns:a16="http://schemas.microsoft.com/office/drawing/2014/main" id="{3B41B48A-7E23-B466-B017-ADA5AD630035}"/>
              </a:ext>
            </a:extLst>
          </p:cNvPr>
          <p:cNvSpPr txBox="1"/>
          <p:nvPr/>
        </p:nvSpPr>
        <p:spPr>
          <a:xfrm>
            <a:off x="421613" y="1433790"/>
            <a:ext cx="6192547" cy="830997"/>
          </a:xfrm>
          <a:prstGeom prst="rect">
            <a:avLst/>
          </a:prstGeom>
          <a:noFill/>
        </p:spPr>
        <p:txBody>
          <a:bodyPr wrap="square">
            <a:spAutoFit/>
          </a:bodyPr>
          <a:lstStyle/>
          <a:p>
            <a:pPr algn="ctr"/>
            <a:r>
              <a:rPr lang="en-US" sz="2400" b="1" dirty="0">
                <a:solidFill>
                  <a:schemeClr val="accent5">
                    <a:lumMod val="50000"/>
                  </a:schemeClr>
                </a:solidFill>
              </a:rPr>
              <a:t xml:space="preserve">Scanned copy of Review 1 </a:t>
            </a:r>
          </a:p>
          <a:p>
            <a:pPr algn="ctr"/>
            <a:r>
              <a:rPr lang="en-US" sz="2400" b="1" dirty="0">
                <a:solidFill>
                  <a:schemeClr val="accent5">
                    <a:lumMod val="50000"/>
                  </a:schemeClr>
                </a:solidFill>
              </a:rPr>
              <a:t>Along with comment of the panel members</a:t>
            </a:r>
            <a:endParaRPr lang="en-IN" sz="2400" b="1" dirty="0">
              <a:solidFill>
                <a:schemeClr val="accent5">
                  <a:lumMod val="50000"/>
                </a:schemeClr>
              </a:solidFill>
            </a:endParaRPr>
          </a:p>
        </p:txBody>
      </p:sp>
      <p:sp>
        <p:nvSpPr>
          <p:cNvPr id="7" name="TextBox 6">
            <a:extLst>
              <a:ext uri="{FF2B5EF4-FFF2-40B4-BE49-F238E27FC236}">
                <a16:creationId xmlns:a16="http://schemas.microsoft.com/office/drawing/2014/main" id="{0F4D1605-B7C8-0915-B398-E171398023BA}"/>
              </a:ext>
            </a:extLst>
          </p:cNvPr>
          <p:cNvSpPr txBox="1"/>
          <p:nvPr/>
        </p:nvSpPr>
        <p:spPr>
          <a:xfrm>
            <a:off x="7711440" y="1649233"/>
            <a:ext cx="3464560" cy="461665"/>
          </a:xfrm>
          <a:prstGeom prst="rect">
            <a:avLst/>
          </a:prstGeom>
          <a:noFill/>
        </p:spPr>
        <p:txBody>
          <a:bodyPr wrap="square" rtlCol="0">
            <a:spAutoFit/>
          </a:bodyPr>
          <a:lstStyle/>
          <a:p>
            <a:r>
              <a:rPr lang="en-US" sz="2400" b="1" dirty="0">
                <a:solidFill>
                  <a:srgbClr val="002060"/>
                </a:solidFill>
              </a:rPr>
              <a:t>Compliance by the Group</a:t>
            </a:r>
            <a:endParaRPr lang="en-IN" sz="2400" b="1" dirty="0">
              <a:solidFill>
                <a:srgbClr val="002060"/>
              </a:solidFill>
            </a:endParaRPr>
          </a:p>
        </p:txBody>
      </p:sp>
      <p:sp>
        <p:nvSpPr>
          <p:cNvPr id="8" name="Rectangle 7">
            <a:extLst>
              <a:ext uri="{FF2B5EF4-FFF2-40B4-BE49-F238E27FC236}">
                <a16:creationId xmlns:a16="http://schemas.microsoft.com/office/drawing/2014/main" id="{BF8B69CC-E1C6-4B05-7309-50F52A5EC37E}"/>
              </a:ext>
            </a:extLst>
          </p:cNvPr>
          <p:cNvSpPr/>
          <p:nvPr/>
        </p:nvSpPr>
        <p:spPr>
          <a:xfrm>
            <a:off x="6995134" y="1428818"/>
            <a:ext cx="4815840" cy="52268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Arrow: Right 8">
            <a:extLst>
              <a:ext uri="{FF2B5EF4-FFF2-40B4-BE49-F238E27FC236}">
                <a16:creationId xmlns:a16="http://schemas.microsoft.com/office/drawing/2014/main" id="{11AFA061-F026-1591-39B3-DB0C950F823E}"/>
              </a:ext>
            </a:extLst>
          </p:cNvPr>
          <p:cNvSpPr/>
          <p:nvPr/>
        </p:nvSpPr>
        <p:spPr>
          <a:xfrm>
            <a:off x="6614160" y="3860800"/>
            <a:ext cx="264160" cy="558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180444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ABDCB-1C1C-5CD9-208C-9375A0A6CA2A}"/>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F232E6E2-0A44-0A50-FE08-4CEA8232F319}"/>
              </a:ext>
            </a:extLst>
          </p:cNvPr>
          <p:cNvSpPr/>
          <p:nvPr/>
        </p:nvSpPr>
        <p:spPr>
          <a:xfrm>
            <a:off x="304800" y="1366966"/>
            <a:ext cx="6192546" cy="5226874"/>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a:extLst>
              <a:ext uri="{FF2B5EF4-FFF2-40B4-BE49-F238E27FC236}">
                <a16:creationId xmlns:a16="http://schemas.microsoft.com/office/drawing/2014/main" id="{131363AC-5089-A97F-A9D7-99149110D626}"/>
              </a:ext>
            </a:extLst>
          </p:cNvPr>
          <p:cNvPicPr>
            <a:picLocks noChangeAspect="1"/>
          </p:cNvPicPr>
          <p:nvPr/>
        </p:nvPicPr>
        <p:blipFill>
          <a:blip r:embed="rId3"/>
          <a:stretch>
            <a:fillRect/>
          </a:stretch>
        </p:blipFill>
        <p:spPr>
          <a:xfrm>
            <a:off x="421613" y="81280"/>
            <a:ext cx="11348773" cy="1239520"/>
          </a:xfrm>
          <a:prstGeom prst="rect">
            <a:avLst/>
          </a:prstGeom>
        </p:spPr>
      </p:pic>
      <p:sp>
        <p:nvSpPr>
          <p:cNvPr id="3" name="TextBox 2">
            <a:extLst>
              <a:ext uri="{FF2B5EF4-FFF2-40B4-BE49-F238E27FC236}">
                <a16:creationId xmlns:a16="http://schemas.microsoft.com/office/drawing/2014/main" id="{E0DD2967-F602-5150-DA20-73ECD94DB2BE}"/>
              </a:ext>
            </a:extLst>
          </p:cNvPr>
          <p:cNvSpPr txBox="1"/>
          <p:nvPr/>
        </p:nvSpPr>
        <p:spPr>
          <a:xfrm>
            <a:off x="421613" y="1433790"/>
            <a:ext cx="6192547" cy="830997"/>
          </a:xfrm>
          <a:prstGeom prst="rect">
            <a:avLst/>
          </a:prstGeom>
          <a:noFill/>
        </p:spPr>
        <p:txBody>
          <a:bodyPr wrap="square">
            <a:spAutoFit/>
          </a:bodyPr>
          <a:lstStyle/>
          <a:p>
            <a:pPr algn="ctr"/>
            <a:r>
              <a:rPr lang="en-US" sz="2400" b="1" dirty="0">
                <a:solidFill>
                  <a:schemeClr val="accent5">
                    <a:lumMod val="50000"/>
                  </a:schemeClr>
                </a:solidFill>
              </a:rPr>
              <a:t>Scanned copy of Review 2</a:t>
            </a:r>
          </a:p>
          <a:p>
            <a:pPr algn="ctr"/>
            <a:r>
              <a:rPr lang="en-US" sz="2400" b="1" dirty="0">
                <a:solidFill>
                  <a:schemeClr val="accent5">
                    <a:lumMod val="50000"/>
                  </a:schemeClr>
                </a:solidFill>
              </a:rPr>
              <a:t>Along with comment of the panel members</a:t>
            </a:r>
            <a:endParaRPr lang="en-IN" sz="2400" b="1" dirty="0">
              <a:solidFill>
                <a:schemeClr val="accent5">
                  <a:lumMod val="50000"/>
                </a:schemeClr>
              </a:solidFill>
            </a:endParaRPr>
          </a:p>
        </p:txBody>
      </p:sp>
      <p:sp>
        <p:nvSpPr>
          <p:cNvPr id="7" name="TextBox 6">
            <a:extLst>
              <a:ext uri="{FF2B5EF4-FFF2-40B4-BE49-F238E27FC236}">
                <a16:creationId xmlns:a16="http://schemas.microsoft.com/office/drawing/2014/main" id="{37CA7A56-28CC-73BA-CC21-B3DCEF949D16}"/>
              </a:ext>
            </a:extLst>
          </p:cNvPr>
          <p:cNvSpPr txBox="1"/>
          <p:nvPr/>
        </p:nvSpPr>
        <p:spPr>
          <a:xfrm>
            <a:off x="7711440" y="1649233"/>
            <a:ext cx="3464560" cy="461665"/>
          </a:xfrm>
          <a:prstGeom prst="rect">
            <a:avLst/>
          </a:prstGeom>
          <a:noFill/>
        </p:spPr>
        <p:txBody>
          <a:bodyPr wrap="square" rtlCol="0">
            <a:spAutoFit/>
          </a:bodyPr>
          <a:lstStyle/>
          <a:p>
            <a:r>
              <a:rPr lang="en-US" sz="2400" b="1" dirty="0">
                <a:solidFill>
                  <a:srgbClr val="002060"/>
                </a:solidFill>
              </a:rPr>
              <a:t>Compliance by the Group</a:t>
            </a:r>
            <a:endParaRPr lang="en-IN" sz="2400" b="1" dirty="0">
              <a:solidFill>
                <a:srgbClr val="002060"/>
              </a:solidFill>
            </a:endParaRPr>
          </a:p>
        </p:txBody>
      </p:sp>
      <p:sp>
        <p:nvSpPr>
          <p:cNvPr id="8" name="Rectangle 7">
            <a:extLst>
              <a:ext uri="{FF2B5EF4-FFF2-40B4-BE49-F238E27FC236}">
                <a16:creationId xmlns:a16="http://schemas.microsoft.com/office/drawing/2014/main" id="{E962C124-68A0-F0DD-2A10-2A30A7E4A7A3}"/>
              </a:ext>
            </a:extLst>
          </p:cNvPr>
          <p:cNvSpPr/>
          <p:nvPr/>
        </p:nvSpPr>
        <p:spPr>
          <a:xfrm>
            <a:off x="6995134" y="1428818"/>
            <a:ext cx="4815840" cy="52268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Arrow: Right 8">
            <a:extLst>
              <a:ext uri="{FF2B5EF4-FFF2-40B4-BE49-F238E27FC236}">
                <a16:creationId xmlns:a16="http://schemas.microsoft.com/office/drawing/2014/main" id="{7A6201A6-E06D-14DE-D30B-9E39A6C67D57}"/>
              </a:ext>
            </a:extLst>
          </p:cNvPr>
          <p:cNvSpPr/>
          <p:nvPr/>
        </p:nvSpPr>
        <p:spPr>
          <a:xfrm>
            <a:off x="6614160" y="3860800"/>
            <a:ext cx="264160" cy="558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70605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21613" y="81280"/>
            <a:ext cx="11348773" cy="1239520"/>
          </a:xfrm>
          <a:prstGeom prst="rect">
            <a:avLst/>
          </a:prstGeom>
        </p:spPr>
      </p:pic>
      <p:pic>
        <p:nvPicPr>
          <p:cNvPr id="10" name="DrawingImg"/>
          <p:cNvPicPr>
            <a:picLocks noChangeAspect="1"/>
          </p:cNvPicPr>
          <p:nvPr/>
        </p:nvPicPr>
        <p:blipFill>
          <a:blip r:embed="rId3"/>
          <a:stretch>
            <a:fillRect/>
          </a:stretch>
        </p:blipFill>
        <p:spPr>
          <a:xfrm>
            <a:off x="274319" y="1900000"/>
            <a:ext cx="5500000" cy="4600000"/>
          </a:xfrm>
          <a:prstGeom prst="rect">
            <a:avLst/>
          </a:prstGeom>
        </p:spPr>
      </p:pic>
      <p:pic>
        <p:nvPicPr>
          <p:cNvPr id="11" name="RenderImg"/>
          <p:cNvPicPr>
            <a:picLocks noChangeAspect="1"/>
          </p:cNvPicPr>
          <p:nvPr/>
        </p:nvPicPr>
        <p:blipFill>
          <a:blip r:embed="rId4"/>
          <a:stretch>
            <a:fillRect/>
          </a:stretch>
        </p:blipFill>
        <p:spPr>
          <a:xfrm>
            <a:off x="6100000" y="1900000"/>
            <a:ext cx="5800000" cy="4600000"/>
          </a:xfrm>
          <a:prstGeom prst="rect">
            <a:avLst/>
          </a:prstGeom>
        </p:spPr>
      </p:pic>
      <p:sp>
        <p:nvSpPr>
          <p:cNvPr id="4" name="Title"/>
          <p:cNvSpPr txBox="1"/>
          <p:nvPr/>
        </p:nvSpPr>
        <p:spPr>
          <a:xfrm>
            <a:off x="274319" y="1320800"/>
            <a:ext cx="11643360" cy="500000"/>
          </a:xfrm>
          <a:prstGeom prst="rect">
            <a:avLst/>
          </a:prstGeom>
          <a:noFill/>
        </p:spPr>
        <p:txBody>
          <a:bodyPr wrap="square">
            <a:spAutoFit/>
          </a:bodyPr>
          <a:lstStyle/>
          <a:p>
            <a:r>
              <a:rPr lang="en-US" sz="2400" b="1" dirty="0">
                <a:solidFill>
                  <a:srgbClr val="002060"/>
                </a:solidFill>
                <a:latin typeface="Arial" pitchFamily="34" charset="0"/>
              </a:rPr>
              <a:t>Experimental Set-up / Virtual Model (CAD/CAM/CAE)</a:t>
            </a:r>
          </a:p>
        </p:txBody>
      </p:sp>
      <p:sp>
        <p:nvSpPr>
          <p:cNvPr id="5" name="LeftLabel"/>
          <p:cNvSpPr txBox="1"/>
          <p:nvPr/>
        </p:nvSpPr>
        <p:spPr>
          <a:xfrm>
            <a:off x="274319" y="1820000"/>
            <a:ext cx="5500000" cy="320000"/>
          </a:xfrm>
          <a:prstGeom prst="rect">
            <a:avLst/>
          </a:prstGeom>
          <a:solidFill>
            <a:srgbClr val="002060"/>
          </a:solidFill>
        </p:spPr>
        <p:txBody>
          <a:bodyPr wrap="square">
            <a:spAutoFit/>
          </a:bodyPr>
          <a:lstStyle/>
          <a:p>
            <a:pPr algn="ctr"/>
            <a:r>
              <a:rPr lang="en-US" sz="1400" b="1" dirty="0">
                <a:solidFill>
                  <a:srgbClr val="FFFFFF"/>
                </a:solidFill>
                <a:latin typeface="Arial" pitchFamily="34" charset="0"/>
              </a:rPr>
              <a:t>Preliminary Design (Engineering Drawing)</a:t>
            </a:r>
          </a:p>
        </p:txBody>
      </p:sp>
      <p:sp>
        <p:nvSpPr>
          <p:cNvPr id="6" name="RightLabel"/>
          <p:cNvSpPr txBox="1"/>
          <p:nvPr/>
        </p:nvSpPr>
        <p:spPr>
          <a:xfrm>
            <a:off x="6100000" y="1820000"/>
            <a:ext cx="5800000" cy="320000"/>
          </a:xfrm>
          <a:prstGeom prst="rect">
            <a:avLst/>
          </a:prstGeom>
          <a:solidFill>
            <a:srgbClr val="C00000"/>
          </a:solidFill>
        </p:spPr>
        <p:txBody>
          <a:bodyPr wrap="square">
            <a:spAutoFit/>
          </a:bodyPr>
          <a:lstStyle/>
          <a:p>
            <a:pPr algn="ctr"/>
            <a:r>
              <a:rPr lang="en-US" sz="1400" b="1" dirty="0">
                <a:solidFill>
                  <a:srgbClr val="FFFFFF"/>
                </a:solidFill>
                <a:latin typeface="Arial" pitchFamily="34" charset="0"/>
              </a:rPr>
              <a:t>Optimised Design (SolidWorks 2025 Render)</a:t>
            </a:r>
          </a:p>
        </p:txBody>
      </p:sp>
      <p:sp>
        <p:nvSpPr>
          <p:cNvPr id="7" name="Caption"/>
          <p:cNvSpPr txBox="1"/>
          <p:nvPr/>
        </p:nvSpPr>
        <p:spPr>
          <a:xfrm>
            <a:off x="274319" y="6600000"/>
            <a:ext cx="11643360" cy="500000"/>
          </a:xfrm>
          <a:prstGeom prst="rect">
            <a:avLst/>
          </a:prstGeom>
          <a:noFill/>
        </p:spPr>
        <p:txBody>
          <a:bodyPr wrap="square">
            <a:spAutoFit/>
          </a:bodyPr>
          <a:lstStyle/>
          <a:p>
            <a:r>
              <a:rPr lang="en-US" sz="1200" i="1" dirty="0">
                <a:solidFill>
                  <a:srgbClr val="595959"/>
                </a:solidFill>
                <a:latin typeface="Arial" pitchFamily="34" charset="0"/>
              </a:rPr>
              <a:t>Key Dimensions: Wheelbase = 349.60 x 349.60 mm  |  Arm length = 180 mm  |  Hub = 150x80 mm  |  Prop dia = 305.96 mm  |  MTOW = 1995 g  |  TWR = 1.8</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21613" y="81280"/>
            <a:ext cx="11348773" cy="1239520"/>
          </a:xfrm>
          <a:prstGeom prst="rect">
            <a:avLst/>
          </a:prstGeom>
        </p:spPr>
      </p:pic>
      <p:pic>
        <p:nvPicPr>
          <p:cNvPr id="10" name="PathImg"/>
          <p:cNvPicPr>
            <a:picLocks noChangeAspect="1"/>
          </p:cNvPicPr>
          <p:nvPr/>
        </p:nvPicPr>
        <p:blipFill>
          <a:blip r:embed="rId3"/>
          <a:stretch>
            <a:fillRect/>
          </a:stretch>
        </p:blipFill>
        <p:spPr>
          <a:xfrm>
            <a:off x="274319" y="1900000"/>
            <a:ext cx="5500000" cy="4600000"/>
          </a:xfrm>
          <a:prstGeom prst="rect">
            <a:avLst/>
          </a:prstGeom>
        </p:spPr>
      </p:pic>
      <p:pic>
        <p:nvPicPr>
          <p:cNvPr id="11" name="TerrainImg"/>
          <p:cNvPicPr>
            <a:picLocks noChangeAspect="1"/>
          </p:cNvPicPr>
          <p:nvPr/>
        </p:nvPicPr>
        <p:blipFill>
          <a:blip r:embed="rId4"/>
          <a:stretch>
            <a:fillRect/>
          </a:stretch>
        </p:blipFill>
        <p:spPr>
          <a:xfrm>
            <a:off x="6100000" y="1900000"/>
            <a:ext cx="5800000" cy="4600000"/>
          </a:xfrm>
          <a:prstGeom prst="rect">
            <a:avLst/>
          </a:prstGeom>
        </p:spPr>
      </p:pic>
      <p:sp>
        <p:nvSpPr>
          <p:cNvPr id="4" name="Title"/>
          <p:cNvSpPr txBox="1"/>
          <p:nvPr/>
        </p:nvSpPr>
        <p:spPr>
          <a:xfrm>
            <a:off x="274319" y="1320800"/>
            <a:ext cx="11643360" cy="500000"/>
          </a:xfrm>
          <a:prstGeom prst="rect">
            <a:avLst/>
          </a:prstGeom>
          <a:noFill/>
        </p:spPr>
        <p:txBody>
          <a:bodyPr wrap="square">
            <a:spAutoFit/>
          </a:bodyPr>
          <a:lstStyle/>
          <a:p>
            <a:r>
              <a:rPr lang="en-US" sz="2200" b="1" dirty="0">
                <a:solidFill>
                  <a:srgbClr val="002060"/>
                </a:solidFill>
                <a:latin typeface="Arial" pitchFamily="34" charset="0"/>
              </a:rPr>
              <a:t>Mission Simulation Output</a:t>
            </a:r>
          </a:p>
        </p:txBody>
      </p:sp>
      <p:sp>
        <p:nvSpPr>
          <p:cNvPr id="5" name="LeftLabel"/>
          <p:cNvSpPr txBox="1"/>
          <p:nvPr/>
        </p:nvSpPr>
        <p:spPr>
          <a:xfrm>
            <a:off x="274319" y="1820000"/>
            <a:ext cx="5500000" cy="320000"/>
          </a:xfrm>
          <a:prstGeom prst="rect">
            <a:avLst/>
          </a:prstGeom>
          <a:solidFill>
            <a:srgbClr val="002060"/>
          </a:solidFill>
        </p:spPr>
        <p:txBody>
          <a:bodyPr wrap="square">
            <a:spAutoFit/>
          </a:bodyPr>
          <a:lstStyle/>
          <a:p>
            <a:pPr algn="ctr"/>
            <a:r>
              <a:rPr lang="en-US" sz="1300" b="1" dirty="0">
                <a:solidFill>
                  <a:srgbClr val="FFFFFF"/>
                </a:solidFill>
                <a:latin typeface="Arial" pitchFamily="34" charset="0"/>
              </a:rPr>
              <a:t>Autonomous Lawnmower Coverage Path</a:t>
            </a:r>
          </a:p>
        </p:txBody>
      </p:sp>
      <p:sp>
        <p:nvSpPr>
          <p:cNvPr id="6" name="RightLabel"/>
          <p:cNvSpPr txBox="1"/>
          <p:nvPr/>
        </p:nvSpPr>
        <p:spPr>
          <a:xfrm>
            <a:off x="6100000" y="1820000"/>
            <a:ext cx="5800000" cy="320000"/>
          </a:xfrm>
          <a:prstGeom prst="rect">
            <a:avLst/>
          </a:prstGeom>
          <a:solidFill>
            <a:srgbClr val="C00000"/>
          </a:solidFill>
        </p:spPr>
        <p:txBody>
          <a:bodyPr wrap="square">
            <a:spAutoFit/>
          </a:bodyPr>
          <a:lstStyle/>
          <a:p>
            <a:pPr algn="ctr"/>
            <a:r>
              <a:rPr lang="en-US" sz="1300" b="1" dirty="0">
                <a:solidFill>
                  <a:srgbClr val="FFFFFF"/>
                </a:solidFill>
                <a:latin typeface="Arial" pitchFamily="34" charset="0"/>
              </a:rPr>
              <a:t>Terrain + Tree Canopy Reconstruction (LiDAR)</a:t>
            </a:r>
          </a:p>
        </p:txBody>
      </p:sp>
      <p:sp>
        <p:nvSpPr>
          <p:cNvPr id="7" name="Caption"/>
          <p:cNvSpPr txBox="1"/>
          <p:nvPr/>
        </p:nvSpPr>
        <p:spPr>
          <a:xfrm>
            <a:off x="274319" y="6600000"/>
            <a:ext cx="11643360" cy="500000"/>
          </a:xfrm>
          <a:prstGeom prst="rect">
            <a:avLst/>
          </a:prstGeom>
          <a:noFill/>
        </p:spPr>
        <p:txBody>
          <a:bodyPr wrap="square">
            <a:spAutoFit/>
          </a:bodyPr>
          <a:lstStyle/>
          <a:p>
            <a:r>
              <a:rPr lang="en-US" sz="1200" i="1" dirty="0">
                <a:solidFill>
                  <a:srgbClr val="595959"/>
                </a:solidFill>
                <a:latin typeface="Arial" pitchFamily="34" charset="0"/>
              </a:rPr>
              <a:t>Left: Polygon geofence + buffer + 5m-waypoint lawnmower path (Python simulation output)   |   Right: Terrain + tree canopy from LiDAR sensor fusion. Blue = safe altitude envelope.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21613" y="81280"/>
            <a:ext cx="11348773" cy="1239520"/>
          </a:xfrm>
          <a:prstGeom prst="rect">
            <a:avLst/>
          </a:prstGeom>
        </p:spPr>
      </p:pic>
      <p:sp>
        <p:nvSpPr>
          <p:cNvPr id="4" name="TitleBox"/>
          <p:cNvSpPr txBox="1"/>
          <p:nvPr/>
        </p:nvSpPr>
        <p:spPr>
          <a:xfrm>
            <a:off x="274319" y="1320800"/>
            <a:ext cx="11643360" cy="600000"/>
          </a:xfrm>
          <a:prstGeom prst="rect">
            <a:avLst/>
          </a:prstGeom>
          <a:noFill/>
        </p:spPr>
        <p:txBody>
          <a:bodyPr wrap="square">
            <a:spAutoFit/>
          </a:bodyPr>
          <a:lstStyle/>
          <a:p>
            <a:r>
              <a:rPr lang="en-US" sz="2400" b="1" dirty="0">
                <a:solidFill>
                  <a:srgbClr val="002060"/>
                </a:solidFill>
                <a:latin typeface="Arial" pitchFamily="34" charset="0"/>
              </a:rPr>
              <a:t>Progress After Stage-I: Simulation &amp; Analysis Results</a:t>
            </a:r>
          </a:p>
        </p:txBody>
      </p:sp>
      <p:sp>
        <p:nvSpPr>
          <p:cNvPr id="5" name="ContentBox"/>
          <p:cNvSpPr txBox="1"/>
          <p:nvPr/>
        </p:nvSpPr>
        <p:spPr>
          <a:xfrm>
            <a:off x="274319" y="2050000"/>
            <a:ext cx="11643360" cy="4600000"/>
          </a:xfrm>
          <a:prstGeom prst="rect">
            <a:avLst/>
          </a:prstGeom>
          <a:noFill/>
        </p:spPr>
        <p:txBody>
          <a:bodyPr wrap="square">
            <a:spAutoFit/>
          </a:bodyPr>
          <a:lstStyle/>
          <a:p>
            <a:r>
              <a:rPr lang="en-US" sz="1600" b="1" dirty="0">
                <a:solidFill>
                  <a:srgbClr val="002060"/>
                </a:solidFill>
                <a:latin typeface="Arial" pitchFamily="34" charset="0"/>
              </a:rPr>
              <a:t>Tabular Summary — UIN2549 Quadcopter Baseline (200×200 m field, 40 m AGL):</a:t>
            </a:r>
          </a:p>
          <a:p>
            <a:r>
              <a:rPr lang="en-US" sz="500" dirty="0">
                <a:solidFill>
                  <a:srgbClr val="000000"/>
                </a:solidFill>
                <a:latin typeface="Arial" pitchFamily="34" charset="0"/>
              </a:rPr>
              <a:t/>
            </a:r>
          </a:p>
          <a:p>
            <a:r>
              <a:rPr lang="en-US" sz="1400" b="1" dirty="0">
                <a:solidFill>
                  <a:srgbClr val="002060"/>
                </a:solidFill>
                <a:latin typeface="Arial" pitchFamily="34" charset="0"/>
              </a:rPr>
              <a:t>Parameter                         Value          Unit</a:t>
            </a:r>
          </a:p>
          <a:p>
            <a:r>
              <a:rPr lang="en-US" sz="1000" dirty="0">
                <a:solidFill>
                  <a:srgbClr val="595959"/>
                </a:solidFill>
                <a:latin typeface="Arial" pitchFamily="34" charset="0"/>
              </a:rPr>
              <a:t>─────────────────────────────────────────────────────────────────</a:t>
            </a:r>
          </a:p>
          <a:p>
            <a:r>
              <a:rPr lang="en-US" sz="1400" dirty="0">
                <a:solidFill>
                  <a:srgbClr val="000000"/>
                </a:solidFill>
                <a:latin typeface="Arial" pitchFamily="34" charset="0"/>
              </a:rPr>
              <a:t>Optimal Cruise Speed  V*                11.1           m/s</a:t>
            </a:r>
          </a:p>
          <a:p>
            <a:r>
              <a:rPr lang="en-US" sz="1400" dirty="0">
                <a:solidFill>
                  <a:srgbClr val="000000"/>
                </a:solidFill>
                <a:latin typeface="Arial" pitchFamily="34" charset="0"/>
              </a:rPr>
              <a:t>Power at V*  (P*)                       204            W</a:t>
            </a:r>
          </a:p>
          <a:p>
            <a:r>
              <a:rPr lang="en-US" sz="1400" dirty="0">
                <a:solidFill>
                  <a:srgbClr val="000000"/>
                </a:solidFill>
                <a:latin typeface="Arial" pitchFamily="34" charset="0"/>
              </a:rPr>
              <a:t>Hover Power                              92            W</a:t>
            </a:r>
          </a:p>
          <a:p>
            <a:r>
              <a:rPr lang="en-US" sz="1400" dirty="0">
                <a:solidFill>
                  <a:srgbClr val="000000"/>
                </a:solidFill>
                <a:latin typeface="Arial" pitchFamily="34" charset="0"/>
              </a:rPr>
              <a:t>Number of Sweeps                         12            passes</a:t>
            </a:r>
          </a:p>
          <a:p>
            <a:r>
              <a:rPr lang="en-US" sz="1400" dirty="0">
                <a:solidFill>
                  <a:srgbClr val="000000"/>
                </a:solidFill>
                <a:latin typeface="Arial" pitchFamily="34" charset="0"/>
              </a:rPr>
              <a:t>Sweep Spacing                          18.0            m</a:t>
            </a:r>
          </a:p>
          <a:p>
            <a:r>
              <a:rPr lang="en-US" sz="1400" dirty="0">
                <a:solidFill>
                  <a:srgbClr val="000000"/>
                </a:solidFill>
                <a:latin typeface="Arial" pitchFamily="34" charset="0"/>
              </a:rPr>
              <a:t>Turn Radius  (15° bank)               24.3            m</a:t>
            </a:r>
          </a:p>
          <a:p>
            <a:r>
              <a:rPr lang="en-US" sz="1400" dirty="0">
                <a:solidFill>
                  <a:srgbClr val="000000"/>
                </a:solidFill>
                <a:latin typeface="Arial" pitchFamily="34" charset="0"/>
              </a:rPr>
              <a:t>Mission Time                            6.0            min</a:t>
            </a:r>
          </a:p>
          <a:p>
            <a:r>
              <a:rPr lang="en-US" sz="1400" dirty="0">
                <a:solidFill>
                  <a:srgbClr val="000000"/>
                </a:solidFill>
                <a:latin typeface="Arial" pitchFamily="34" charset="0"/>
              </a:rPr>
              <a:t>Mission Energy                         20.5            Wh</a:t>
            </a:r>
          </a:p>
          <a:p>
            <a:r>
              <a:rPr lang="en-US" sz="1400" b="1" dirty="0">
                <a:solidFill>
                  <a:srgbClr val="00703C"/>
                </a:solidFill>
                <a:latin typeface="Arial" pitchFamily="34" charset="0"/>
              </a:rPr>
              <a:t>Battery Margin                         35.0            Wh (feasible ✓)</a:t>
            </a:r>
          </a:p>
          <a:p>
            <a:r>
              <a:rPr lang="en-US" sz="1400" dirty="0">
                <a:solidFill>
                  <a:srgbClr val="000000"/>
                </a:solidFill>
                <a:latin typeface="Arial" pitchFamily="34" charset="0"/>
              </a:rPr>
              <a:t>Cruise Endurance                       28.4            min on 74 Wh</a:t>
            </a:r>
          </a:p>
          <a:p>
            <a:r>
              <a:rPr lang="en-US" sz="500" dirty="0">
                <a:solidFill>
                  <a:srgbClr val="000000"/>
                </a:solidFill>
                <a:latin typeface="Arial" pitchFamily="34" charset="0"/>
              </a:rPr>
              <a:t/>
            </a:r>
          </a:p>
          <a:p>
            <a:r>
              <a:rPr lang="en-US" sz="1400" i="1" dirty="0">
                <a:solidFill>
                  <a:srgbClr val="595959"/>
                </a:solidFill>
                <a:latin typeface="Arial" pitchFamily="34" charset="0"/>
              </a:rPr>
              <a:t>Tools Used:  Python 3 · NumPy · SciPy · Matplotlib · ANSYS 2024 R1 · SolidWorks 2025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21613" y="81280"/>
            <a:ext cx="11348773" cy="1239520"/>
          </a:xfrm>
          <a:prstGeom prst="rect">
            <a:avLst/>
          </a:prstGeom>
        </p:spPr>
      </p:pic>
      <p:pic>
        <p:nvPicPr>
          <p:cNvPr id="10" name="Chart"/>
          <p:cNvPicPr>
            <a:picLocks noChangeAspect="1"/>
          </p:cNvPicPr>
          <p:nvPr/>
        </p:nvPicPr>
        <p:blipFill>
          <a:blip r:embed="rId3"/>
          <a:stretch>
            <a:fillRect/>
          </a:stretch>
        </p:blipFill>
        <p:spPr>
          <a:xfrm>
            <a:off x="274319" y="1680000"/>
            <a:ext cx="11600000" cy="5100000"/>
          </a:xfrm>
          <a:prstGeom prst="rect">
            <a:avLst/>
          </a:prstGeom>
        </p:spPr>
      </p:pic>
      <p:sp>
        <p:nvSpPr>
          <p:cNvPr id="4" name="Title"/>
          <p:cNvSpPr txBox="1"/>
          <p:nvPr/>
        </p:nvSpPr>
        <p:spPr>
          <a:xfrm>
            <a:off x="274319" y="1320800"/>
            <a:ext cx="11643360" cy="360000"/>
          </a:xfrm>
          <a:prstGeom prst="rect">
            <a:avLst/>
          </a:prstGeom>
          <a:noFill/>
        </p:spPr>
        <p:txBody>
          <a:bodyPr wrap="square">
            <a:spAutoFit/>
          </a:bodyPr>
          <a:lstStyle/>
          <a:p>
            <a:r>
              <a:rPr lang="en-US" sz="2200" b="1" dirty="0">
                <a:solidFill>
                  <a:srgbClr val="002060"/>
                </a:solidFill>
                <a:latin typeface="Arial" pitchFamily="34" charset="0"/>
              </a:rPr>
              <a:t>Parametric Analysis Charts — Physics-Based Results (7 Studies)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21613" y="81280"/>
            <a:ext cx="11348773" cy="1239520"/>
          </a:xfrm>
          <a:prstGeom prst="rect">
            <a:avLst/>
          </a:prstGeom>
        </p:spPr>
      </p:pic>
      <p:sp>
        <p:nvSpPr>
          <p:cNvPr id="4" name="TitleBox"/>
          <p:cNvSpPr txBox="1"/>
          <p:nvPr/>
        </p:nvSpPr>
        <p:spPr>
          <a:xfrm>
            <a:off x="274319" y="1320800"/>
            <a:ext cx="11643360" cy="600000"/>
          </a:xfrm>
          <a:prstGeom prst="rect">
            <a:avLst/>
          </a:prstGeom>
          <a:noFill/>
        </p:spPr>
        <p:txBody>
          <a:bodyPr wrap="square">
            <a:spAutoFit/>
          </a:bodyPr>
          <a:lstStyle/>
          <a:p>
            <a:r>
              <a:rPr lang="en-US" sz="2400" b="1" dirty="0">
                <a:solidFill>
                  <a:srgbClr val="002060"/>
                </a:solidFill>
                <a:latin typeface="Arial" pitchFamily="34" charset="0"/>
              </a:rPr>
              <a:t>Results Analysis:</a:t>
            </a:r>
          </a:p>
        </p:txBody>
      </p:sp>
      <p:sp>
        <p:nvSpPr>
          <p:cNvPr id="5" name="ContentBox"/>
          <p:cNvSpPr txBox="1"/>
          <p:nvPr/>
        </p:nvSpPr>
        <p:spPr>
          <a:xfrm>
            <a:off x="274319" y="2050000"/>
            <a:ext cx="11643360" cy="4700000"/>
          </a:xfrm>
          <a:prstGeom prst="rect">
            <a:avLst/>
          </a:prstGeom>
          <a:noFill/>
        </p:spPr>
        <p:txBody>
          <a:bodyPr wrap="square">
            <a:spAutoFit/>
          </a:bodyPr>
          <a:lstStyle/>
          <a:p>
            <a:r>
              <a:rPr lang="en-US" sz="1600" b="1" dirty="0">
                <a:solidFill>
                  <a:srgbClr val="002060"/>
                </a:solidFill>
                <a:latin typeface="Arial" pitchFamily="34" charset="0"/>
              </a:rPr>
              <a:t>1. Configuration Comparison (Tri / Quad / Hex / Octo):</a:t>
            </a:r>
          </a:p>
          <a:p>
            <a:r>
              <a:rPr lang="en-US" sz="1400" dirty="0">
                <a:solidFill>
                  <a:srgbClr val="000000"/>
                </a:solidFill>
                <a:latin typeface="Arial" pitchFamily="34" charset="0"/>
              </a:rPr>
              <a:t>Tricopter V* = 10.4 m/s, E = 16.8 Wh   |   Quadcopter V* = 11.1 m/s, E = 20.5 Wh   |   Hexarotor V* = 12.8 m/s, E = 30.3 Wh   |   Octorotor V* = 14.6 m/s, E = 44.5 Wh</a:t>
            </a:r>
          </a:p>
          <a:p>
            <a:r>
              <a:rPr lang="en-US" sz="1300" i="1" dirty="0">
                <a:solidFill>
                  <a:srgbClr val="595959"/>
                </a:solidFill>
                <a:latin typeface="Arial" pitchFamily="34" charset="0"/>
              </a:rPr>
              <a:t>Finding: Heavier configs need faster V* to compensate induced power drop; all feasible on respective batteries.</a:t>
            </a:r>
          </a:p>
          <a:p>
            <a:r>
              <a:rPr lang="en-US" sz="600" dirty="0">
                <a:solidFill>
                  <a:srgbClr val="000000"/>
                </a:solidFill>
                <a:latin typeface="Arial" pitchFamily="34" charset="0"/>
              </a:rPr>
              <a:t/>
            </a:r>
          </a:p>
          <a:p>
            <a:r>
              <a:rPr lang="en-US" sz="1600" b="1" dirty="0">
                <a:solidFill>
                  <a:srgbClr val="002060"/>
                </a:solidFill>
                <a:latin typeface="Arial" pitchFamily="34" charset="0"/>
              </a:rPr>
              <a:t>2. Payload Mass (Quadcopter, 0 → 1 kg additional):</a:t>
            </a:r>
          </a:p>
          <a:p>
            <a:r>
              <a:rPr lang="en-US" sz="1400" dirty="0">
                <a:solidFill>
                  <a:srgbClr val="000000"/>
                </a:solidFill>
                <a:latin typeface="Arial" pitchFamily="34" charset="0"/>
              </a:rPr>
              <a:t>Energy: 20.5 → 31.1 Wh   (+52.0%)   |   V* shifts: 11.1 → 13.2 m/s   |   Quadratic scaling (a = 1.71 Wh/kg²)</a:t>
            </a:r>
          </a:p>
          <a:p>
            <a:r>
              <a:rPr lang="en-US" sz="1300" i="1" dirty="0">
                <a:solidFill>
                  <a:srgbClr val="595959"/>
                </a:solidFill>
                <a:latin typeface="Arial" pitchFamily="34" charset="0"/>
              </a:rPr>
              <a:t>Finding: Payload is the dominant energy driver — non-linear increase; design payload minimisation is critical.</a:t>
            </a:r>
          </a:p>
          <a:p>
            <a:r>
              <a:rPr lang="en-US" sz="600" dirty="0">
                <a:solidFill>
                  <a:srgbClr val="000000"/>
                </a:solidFill>
                <a:latin typeface="Arial" pitchFamily="34" charset="0"/>
              </a:rPr>
              <a:t/>
            </a:r>
          </a:p>
          <a:p>
            <a:r>
              <a:rPr lang="en-US" sz="1600" b="1" dirty="0">
                <a:solidFill>
                  <a:srgbClr val="002060"/>
                </a:solidFill>
                <a:latin typeface="Arial" pitchFamily="34" charset="0"/>
              </a:rPr>
              <a:t>3. Propeller Radius (Quadcopter, 80 → 220 mm):</a:t>
            </a:r>
          </a:p>
          <a:p>
            <a:r>
              <a:rPr lang="en-US" sz="1400" dirty="0">
                <a:solidFill>
                  <a:srgbClr val="000000"/>
                </a:solidFill>
                <a:latin typeface="Arial" pitchFamily="34" charset="0"/>
              </a:rPr>
              <a:t>Minimum energy at R = 111 mm (19.9 Wh). Smaller: profile drag dominates. Larger: mass penalty offsets efficiency.</a:t>
            </a:r>
          </a:p>
          <a:p>
            <a:r>
              <a:rPr lang="en-US" sz="1300" i="1" dirty="0">
                <a:solidFill>
                  <a:srgbClr val="595959"/>
                </a:solidFill>
                <a:latin typeface="Arial" pitchFamily="34" charset="0"/>
              </a:rPr>
              <a:t>Finding: Optimal propeller exists at intermediate size — APC1238 (R = 127 mm) is near-optimal for our mass.</a:t>
            </a:r>
          </a:p>
          <a:p>
            <a:r>
              <a:rPr lang="en-US" sz="600" dirty="0">
                <a:solidFill>
                  <a:srgbClr val="000000"/>
                </a:solidFill>
                <a:latin typeface="Arial" pitchFamily="34" charset="0"/>
              </a:rPr>
              <a:t/>
            </a:r>
          </a:p>
          <a:p>
            <a:r>
              <a:rPr lang="en-US" sz="1600" b="1" dirty="0">
                <a:solidFill>
                  <a:srgbClr val="002060"/>
                </a:solidFill>
                <a:latin typeface="Arial" pitchFamily="34" charset="0"/>
              </a:rPr>
              <a:t>4. Altitude (20 → 100 m AGL):</a:t>
            </a:r>
          </a:p>
          <a:p>
            <a:r>
              <a:rPr lang="en-US" sz="1400" dirty="0">
                <a:solidFill>
                  <a:srgbClr val="000000"/>
                </a:solidFill>
                <a:latin typeface="Arial" pitchFamily="34" charset="0"/>
              </a:rPr>
              <a:t>Sweeps: 23 → 5 passes   |   Energy: 39.9 → 8.1 Wh (−79.7%)   |   Optimal: 80–100 m for energy, trade-off vs ground resolution.</a:t>
            </a:r>
          </a:p>
          <a:p>
            <a:r>
              <a:rPr lang="en-US" sz="600" dirty="0">
                <a:solidFill>
                  <a:srgbClr val="000000"/>
                </a:solidFill>
                <a:latin typeface="Arial" pitchFamily="34" charset="0"/>
              </a:rPr>
              <a:t/>
            </a:r>
          </a:p>
          <a:p>
            <a:r>
              <a:rPr lang="en-US" sz="1600" b="1" dirty="0">
                <a:solidFill>
                  <a:srgbClr val="002060"/>
                </a:solidFill>
                <a:latin typeface="Arial" pitchFamily="34" charset="0"/>
              </a:rPr>
              <a:t>5. Wind Effect (0 → 10 m/s headwind):</a:t>
            </a:r>
          </a:p>
          <a:p>
            <a:r>
              <a:rPr lang="en-US" sz="1400" dirty="0">
                <a:solidFill>
                  <a:srgbClr val="000000"/>
                </a:solidFill>
                <a:latin typeface="Arial" pitchFamily="34" charset="0"/>
              </a:rPr>
              <a:t>Energy: 12.2 → 21.8 Wh   (+78.6%)   |   Headwind leg V* drops from 11.1 → 8.1 m/s (planner re-optimises per leg)</a:t>
            </a:r>
          </a:p>
          <a:p>
            <a:r>
              <a:rPr lang="en-US" sz="1300" i="1" dirty="0">
                <a:solidFill>
                  <a:srgbClr val="C00000"/>
                </a:solidFill>
                <a:latin typeface="Arial" pitchFamily="34" charset="0"/>
              </a:rPr>
              <a:t>Finding: Wind is the most dangerous mission variable — 25% reserve is insufficient above 8 m/s for our battery.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21613" y="81280"/>
            <a:ext cx="11348773" cy="1239520"/>
          </a:xfrm>
          <a:prstGeom prst="rect">
            <a:avLst/>
          </a:prstGeom>
        </p:spPr>
      </p:pic>
      <p:sp>
        <p:nvSpPr>
          <p:cNvPr id="4" name="TitleBox"/>
          <p:cNvSpPr txBox="1"/>
          <p:nvPr/>
        </p:nvSpPr>
        <p:spPr>
          <a:xfrm>
            <a:off x="274319" y="1320800"/>
            <a:ext cx="11643360" cy="600000"/>
          </a:xfrm>
          <a:prstGeom prst="rect">
            <a:avLst/>
          </a:prstGeom>
          <a:noFill/>
        </p:spPr>
        <p:txBody>
          <a:bodyPr wrap="square">
            <a:spAutoFit/>
          </a:bodyPr>
          <a:lstStyle/>
          <a:p>
            <a:r>
              <a:rPr lang="en-US" sz="2400" b="1" dirty="0">
                <a:solidFill>
                  <a:srgbClr val="002060"/>
                </a:solidFill>
                <a:latin typeface="Arial" pitchFamily="34" charset="0"/>
              </a:rPr>
              <a:t>Proposed Work Plan and Expected Outcome:</a:t>
            </a:r>
          </a:p>
        </p:txBody>
      </p:sp>
      <p:sp>
        <p:nvSpPr>
          <p:cNvPr id="5" name="ContentBox"/>
          <p:cNvSpPr txBox="1"/>
          <p:nvPr/>
        </p:nvSpPr>
        <p:spPr>
          <a:xfrm>
            <a:off x="274319" y="2050000"/>
            <a:ext cx="11643360" cy="4700000"/>
          </a:xfrm>
          <a:prstGeom prst="rect">
            <a:avLst/>
          </a:prstGeom>
          <a:noFill/>
        </p:spPr>
        <p:txBody>
          <a:bodyPr wrap="square">
            <a:spAutoFit/>
          </a:bodyPr>
          <a:lstStyle/>
          <a:p>
            <a:r>
              <a:rPr lang="en-US" sz="1500" b="1" dirty="0">
                <a:solidFill>
                  <a:srgbClr val="002060"/>
                </a:solidFill>
                <a:latin typeface="Arial" pitchFamily="34" charset="0"/>
              </a:rPr>
              <a:t>Month                  Planned Activities                                         Expected Output</a:t>
            </a:r>
          </a:p>
          <a:p>
            <a:r>
              <a:rPr lang="en-US" sz="900" dirty="0">
                <a:solidFill>
                  <a:srgbClr val="595959"/>
                </a:solidFill>
                <a:latin typeface="Arial" pitchFamily="34" charset="0"/>
              </a:rPr>
              <a:t>────────────────────────────────────────────────────────────────────────────────</a:t>
            </a:r>
          </a:p>
          <a:p>
            <a:r>
              <a:rPr lang="en-US" sz="1400" dirty="0">
                <a:solidFill>
                  <a:srgbClr val="000000"/>
                </a:solidFill>
                <a:latin typeface="Arial" pitchFamily="34" charset="0"/>
              </a:rPr>
              <a:t>Jan 2026       Physics model development + parametric simulation         Validated P(V) model for all configs</a:t>
            </a:r>
          </a:p>
          <a:p>
            <a:r>
              <a:rPr lang="en-US" sz="1400" dirty="0">
                <a:solidFill>
                  <a:srgbClr val="000000"/>
                </a:solidFill>
                <a:latin typeface="Arial" pitchFamily="34" charset="0"/>
              </a:rPr>
              <a:t>Feb 2026       Mission planner algorithm + lawnmower path generation     Working Python optimizer with test outputs</a:t>
            </a:r>
          </a:p>
          <a:p>
            <a:r>
              <a:rPr lang="en-US" sz="1400" dirty="0">
                <a:solidFill>
                  <a:srgbClr val="000000"/>
                </a:solidFill>
                <a:latin typeface="Arial" pitchFamily="34" charset="0"/>
              </a:rPr>
              <a:t>Mar 2026       Hardware integration: Pixhawk + RPi + GPS + LiDAR         Autonomous takeoff + geofenced survey flight</a:t>
            </a:r>
          </a:p>
          <a:p>
            <a:r>
              <a:rPr lang="en-US" sz="1400" dirty="0">
                <a:solidFill>
                  <a:srgbClr val="000000"/>
                </a:solidFill>
                <a:latin typeface="Arial" pitchFamily="34" charset="0"/>
              </a:rPr>
              <a:t>Apr 2026       Wind model + payload drop integration + YOLO detection     Full autonomous mission demo (SAE Aerothon)</a:t>
            </a:r>
          </a:p>
          <a:p>
            <a:r>
              <a:rPr lang="en-US" sz="1400" dirty="0">
                <a:solidFill>
                  <a:srgbClr val="000000"/>
                </a:solidFill>
                <a:latin typeface="Arial" pitchFamily="34" charset="0"/>
              </a:rPr>
              <a:t>May 2026       Report writing + paper draft + project diary completion    Final report + research paper draft submitted</a:t>
            </a:r>
          </a:p>
          <a:p>
            <a:r>
              <a:rPr lang="en-US" sz="600" dirty="0">
                <a:solidFill>
                  <a:srgbClr val="000000"/>
                </a:solidFill>
                <a:latin typeface="Arial" pitchFamily="34" charset="0"/>
              </a:rPr>
              <a:t/>
            </a:r>
          </a:p>
          <a:p>
            <a:r>
              <a:rPr lang="en-US" sz="1600" b="1" dirty="0">
                <a:solidFill>
                  <a:srgbClr val="002060"/>
                </a:solidFill>
                <a:latin typeface="Arial" pitchFamily="34" charset="0"/>
              </a:rPr>
              <a:t>Expected Outcomes:</a:t>
            </a:r>
          </a:p>
          <a:p>
            <a:r>
              <a:rPr lang="en-US" sz="1400" dirty="0">
                <a:solidFill>
                  <a:srgbClr val="000000"/>
                </a:solidFill>
                <a:latin typeface="Arial" pitchFamily="34" charset="0"/>
              </a:rPr>
              <a:t>•  Python simulation framework with 7 parametric analyses + publication-quality charts</a:t>
            </a:r>
          </a:p>
          <a:p>
            <a:r>
              <a:rPr lang="en-US" sz="1400" dirty="0">
                <a:solidFill>
                  <a:srgbClr val="000000"/>
                </a:solidFill>
                <a:latin typeface="Arial" pitchFamily="34" charset="0"/>
              </a:rPr>
              <a:t>•  Validated optimal flight plan for UIN2549: V* = 11.1 m/s, alt = 40–80 m, energy = 20.5–10 Wh</a:t>
            </a:r>
          </a:p>
          <a:p>
            <a:r>
              <a:rPr lang="en-US" sz="1400" dirty="0">
                <a:solidFill>
                  <a:srgbClr val="000000"/>
                </a:solidFill>
                <a:latin typeface="Arial" pitchFamily="34" charset="0"/>
              </a:rPr>
              <a:t>•  Autonomous mission demonstrated on physical quadcopter with live telemetry</a:t>
            </a:r>
          </a:p>
          <a:p>
            <a:r>
              <a:rPr lang="en-US" sz="1400" dirty="0">
                <a:solidFill>
                  <a:srgbClr val="000000"/>
                </a:solidFill>
                <a:latin typeface="Arial" pitchFamily="34" charset="0"/>
              </a:rPr>
              <a:t>•  Research paper submitted to an indexed journal or conference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82F39-F2E5-DCBA-894D-6BDF651F1E5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82DC995-F079-88B3-5035-D58994A4A608}"/>
              </a:ext>
            </a:extLst>
          </p:cNvPr>
          <p:cNvPicPr>
            <a:picLocks noChangeAspect="1"/>
          </p:cNvPicPr>
          <p:nvPr/>
        </p:nvPicPr>
        <p:blipFill>
          <a:blip r:embed="rId2"/>
          <a:stretch>
            <a:fillRect/>
          </a:stretch>
        </p:blipFill>
        <p:spPr>
          <a:xfrm>
            <a:off x="421613" y="81280"/>
            <a:ext cx="11348773" cy="1239520"/>
          </a:xfrm>
          <a:prstGeom prst="rect">
            <a:avLst/>
          </a:prstGeom>
        </p:spPr>
      </p:pic>
      <p:sp>
        <p:nvSpPr>
          <p:cNvPr id="4" name="TextBox 3">
            <a:extLst>
              <a:ext uri="{FF2B5EF4-FFF2-40B4-BE49-F238E27FC236}">
                <a16:creationId xmlns:a16="http://schemas.microsoft.com/office/drawing/2014/main" id="{01712A3A-70C4-3DDB-208C-1BF8A8A25ED7}"/>
              </a:ext>
            </a:extLst>
          </p:cNvPr>
          <p:cNvSpPr txBox="1"/>
          <p:nvPr/>
        </p:nvSpPr>
        <p:spPr>
          <a:xfrm>
            <a:off x="421612" y="1320800"/>
            <a:ext cx="10541027" cy="738664"/>
          </a:xfrm>
          <a:prstGeom prst="rect">
            <a:avLst/>
          </a:prstGeom>
          <a:noFill/>
        </p:spPr>
        <p:txBody>
          <a:bodyPr wrap="square">
            <a:spAutoFit/>
          </a:bodyPr>
          <a:lstStyle/>
          <a:p>
            <a:pPr>
              <a:buNone/>
            </a:pPr>
            <a:r>
              <a:rPr lang="en-US" sz="2400" b="1" dirty="0">
                <a:solidFill>
                  <a:srgbClr val="002060"/>
                </a:solidFill>
                <a:latin typeface="Arial" panose="020B0604020202020204" pitchFamily="34" charset="0"/>
                <a:cs typeface="Arial" panose="020B0604020202020204" pitchFamily="34" charset="0"/>
              </a:rPr>
              <a:t>Roles and Responsibilities (within group)</a:t>
            </a:r>
          </a:p>
          <a:p>
            <a:pPr>
              <a:buFont typeface="Arial" panose="020B0604020202020204" pitchFamily="34" charset="0"/>
              <a:buChar char="•"/>
            </a:pPr>
            <a:r>
              <a:rPr lang="en-US" dirty="0">
                <a:solidFill>
                  <a:srgbClr val="002060"/>
                </a:solidFill>
                <a:latin typeface="Arial" panose="020B0604020202020204" pitchFamily="34" charset="0"/>
                <a:cs typeface="Arial" panose="020B0604020202020204" pitchFamily="34" charset="0"/>
              </a:rPr>
              <a:t>How the team has divided initial responsibilities among members.</a:t>
            </a:r>
          </a:p>
        </p:txBody>
      </p:sp>
      <p:graphicFrame>
        <p:nvGraphicFramePr>
          <p:cNvPr id="5" name="Table 4">
            <a:extLst>
              <a:ext uri="{FF2B5EF4-FFF2-40B4-BE49-F238E27FC236}">
                <a16:creationId xmlns:a16="http://schemas.microsoft.com/office/drawing/2014/main" id="{F677CB8C-A500-6303-9FD4-3A7A59A07549}"/>
              </a:ext>
            </a:extLst>
          </p:cNvPr>
          <p:cNvGraphicFramePr>
            <a:graphicFrameLocks noGrp="1"/>
          </p:cNvGraphicFramePr>
          <p:nvPr>
            <p:extLst>
              <p:ext uri="{D42A27DB-BD31-4B8C-83A1-F6EECF244321}">
                <p14:modId xmlns:p14="http://schemas.microsoft.com/office/powerpoint/2010/main" val="16524106"/>
              </p:ext>
            </p:extLst>
          </p:nvPr>
        </p:nvGraphicFramePr>
        <p:xfrm>
          <a:off x="500634" y="2409579"/>
          <a:ext cx="11048490" cy="2622592"/>
        </p:xfrm>
        <a:graphic>
          <a:graphicData uri="http://schemas.openxmlformats.org/drawingml/2006/table">
            <a:tbl>
              <a:tblPr firstRow="1" bandRow="1">
                <a:tableStyleId>{5940675A-B579-460E-94D1-54222C63F5DA}</a:tableStyleId>
              </a:tblPr>
              <a:tblGrid>
                <a:gridCol w="860062">
                  <a:extLst>
                    <a:ext uri="{9D8B030D-6E8A-4147-A177-3AD203B41FA5}">
                      <a16:colId xmlns:a16="http://schemas.microsoft.com/office/drawing/2014/main" val="1101928699"/>
                    </a:ext>
                  </a:extLst>
                </a:gridCol>
                <a:gridCol w="3463260">
                  <a:extLst>
                    <a:ext uri="{9D8B030D-6E8A-4147-A177-3AD203B41FA5}">
                      <a16:colId xmlns:a16="http://schemas.microsoft.com/office/drawing/2014/main" val="976434521"/>
                    </a:ext>
                  </a:extLst>
                </a:gridCol>
                <a:gridCol w="3652278">
                  <a:extLst>
                    <a:ext uri="{9D8B030D-6E8A-4147-A177-3AD203B41FA5}">
                      <a16:colId xmlns:a16="http://schemas.microsoft.com/office/drawing/2014/main" val="3924330073"/>
                    </a:ext>
                  </a:extLst>
                </a:gridCol>
                <a:gridCol w="3072890">
                  <a:extLst>
                    <a:ext uri="{9D8B030D-6E8A-4147-A177-3AD203B41FA5}">
                      <a16:colId xmlns:a16="http://schemas.microsoft.com/office/drawing/2014/main" val="3585755097"/>
                    </a:ext>
                  </a:extLst>
                </a:gridCol>
              </a:tblGrid>
              <a:tr h="675628">
                <a:tc>
                  <a:txBody>
                    <a:bodyPr/>
                    <a:lstStyle/>
                    <a:p>
                      <a:r>
                        <a:rPr lang="en-US" dirty="0">
                          <a:latin typeface="Arial" panose="020B0604020202020204" pitchFamily="34" charset="0"/>
                          <a:cs typeface="Arial" panose="020B0604020202020204" pitchFamily="34" charset="0"/>
                        </a:rPr>
                        <a:t>Sr. No.</a:t>
                      </a:r>
                      <a:endParaRPr lang="en-IN"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Name of Student</a:t>
                      </a:r>
                      <a:endParaRPr lang="en-IN" dirty="0">
                        <a:latin typeface="Arial" panose="020B0604020202020204" pitchFamily="34" charset="0"/>
                        <a:cs typeface="Arial" panose="020B0604020202020204" pitchFamily="34" charset="0"/>
                      </a:endParaRPr>
                    </a:p>
                  </a:txBody>
                  <a:tcPr/>
                </a:tc>
                <a:tc>
                  <a:txBody>
                    <a:bodyPr/>
                    <a:lstStyle/>
                    <a:p>
                      <a:r>
                        <a:rPr lang="en-US" sz="1800" b="0" dirty="0">
                          <a:solidFill>
                            <a:srgbClr val="00B050"/>
                          </a:solidFill>
                          <a:latin typeface="Arial" panose="020B0604020202020204" pitchFamily="34" charset="0"/>
                          <a:cs typeface="Arial" panose="020B0604020202020204" pitchFamily="34" charset="0"/>
                        </a:rPr>
                        <a:t>Expected Contribution towards Project work</a:t>
                      </a:r>
                      <a:endParaRPr lang="en-IN" b="0" dirty="0">
                        <a:solidFill>
                          <a:srgbClr val="00B050"/>
                        </a:solidFill>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 xml:space="preserve">Work done by the Member </a:t>
                      </a:r>
                      <a:endParaRPr lang="en-IN"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485920466"/>
                  </a:ext>
                </a:extLst>
              </a:tr>
              <a:tr h="486741">
                <a:tc>
                  <a:txBody>
                    <a:bodyPr/>
                    <a:lstStyle/>
                    <a:p>
                      <a:r>
                        <a:rPr lang="en-US" dirty="0">
                          <a:latin typeface="Arial" panose="020B0604020202020204" pitchFamily="34" charset="0"/>
                          <a:cs typeface="Arial" panose="020B0604020202020204" pitchFamily="34" charset="0"/>
                        </a:rPr>
                        <a:t>1</a:t>
                      </a:r>
                      <a:endParaRPr lang="en-IN"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Leader</a:t>
                      </a:r>
                      <a:endParaRPr lang="en-IN" dirty="0">
                        <a:latin typeface="Arial" panose="020B0604020202020204" pitchFamily="34" charset="0"/>
                        <a:cs typeface="Arial" panose="020B0604020202020204" pitchFamily="34" charset="0"/>
                      </a:endParaRPr>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284202584"/>
                  </a:ext>
                </a:extLst>
              </a:tr>
              <a:tr h="486741">
                <a:tc>
                  <a:txBody>
                    <a:bodyPr/>
                    <a:lstStyle/>
                    <a:p>
                      <a:r>
                        <a:rPr lang="en-US" dirty="0">
                          <a:latin typeface="Arial" panose="020B0604020202020204" pitchFamily="34" charset="0"/>
                          <a:cs typeface="Arial" panose="020B0604020202020204" pitchFamily="34" charset="0"/>
                        </a:rPr>
                        <a:t>2</a:t>
                      </a:r>
                      <a:endParaRPr lang="en-IN"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Member 1</a:t>
                      </a:r>
                      <a:endParaRPr lang="en-IN" dirty="0">
                        <a:latin typeface="Arial" panose="020B0604020202020204" pitchFamily="34" charset="0"/>
                        <a:cs typeface="Arial" panose="020B0604020202020204" pitchFamily="34" charset="0"/>
                      </a:endParaRPr>
                    </a:p>
                  </a:txBody>
                  <a:tcPr/>
                </a:tc>
                <a:tc>
                  <a:txBody>
                    <a:bodyPr/>
                    <a:lstStyle/>
                    <a:p>
                      <a:endParaRPr lang="en-IN" dirty="0"/>
                    </a:p>
                  </a:txBody>
                  <a:tcPr/>
                </a:tc>
                <a:tc>
                  <a:txBody>
                    <a:bodyPr/>
                    <a:lstStyle/>
                    <a:p>
                      <a:endParaRPr lang="en-IN"/>
                    </a:p>
                  </a:txBody>
                  <a:tcPr/>
                </a:tc>
                <a:extLst>
                  <a:ext uri="{0D108BD9-81ED-4DB2-BD59-A6C34878D82A}">
                    <a16:rowId xmlns:a16="http://schemas.microsoft.com/office/drawing/2014/main" val="4178566050"/>
                  </a:ext>
                </a:extLst>
              </a:tr>
              <a:tr h="486741">
                <a:tc>
                  <a:txBody>
                    <a:bodyPr/>
                    <a:lstStyle/>
                    <a:p>
                      <a:r>
                        <a:rPr lang="en-US" dirty="0">
                          <a:latin typeface="Arial" panose="020B0604020202020204" pitchFamily="34" charset="0"/>
                          <a:cs typeface="Arial" panose="020B0604020202020204" pitchFamily="34" charset="0"/>
                        </a:rPr>
                        <a:t>3</a:t>
                      </a:r>
                      <a:endParaRPr lang="en-IN"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Member 2</a:t>
                      </a:r>
                      <a:endParaRPr lang="en-IN" dirty="0">
                        <a:latin typeface="Arial" panose="020B0604020202020204" pitchFamily="34" charset="0"/>
                        <a:cs typeface="Arial" panose="020B0604020202020204" pitchFamily="34" charset="0"/>
                      </a:endParaRPr>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2942101598"/>
                  </a:ext>
                </a:extLst>
              </a:tr>
              <a:tr h="486741">
                <a:tc>
                  <a:txBody>
                    <a:bodyPr/>
                    <a:lstStyle/>
                    <a:p>
                      <a:r>
                        <a:rPr lang="en-US" dirty="0">
                          <a:latin typeface="Arial" panose="020B0604020202020204" pitchFamily="34" charset="0"/>
                          <a:cs typeface="Arial" panose="020B0604020202020204" pitchFamily="34" charset="0"/>
                        </a:rPr>
                        <a:t>4</a:t>
                      </a:r>
                      <a:endParaRPr lang="en-IN"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latin typeface="Arial" panose="020B0604020202020204" pitchFamily="34" charset="0"/>
                        <a:cs typeface="Arial" panose="020B0604020202020204" pitchFamily="34" charset="0"/>
                      </a:endParaRPr>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2722161946"/>
                  </a:ext>
                </a:extLst>
              </a:tr>
            </a:tbl>
          </a:graphicData>
        </a:graphic>
      </p:graphicFrame>
    </p:spTree>
    <p:extLst>
      <p:ext uri="{BB962C8B-B14F-4D97-AF65-F5344CB8AC3E}">
        <p14:creationId xmlns:p14="http://schemas.microsoft.com/office/powerpoint/2010/main" val="15705768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D1C95-0494-2F90-2381-D00E17A3278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E84D0A3-1916-7C37-701A-F555D41B436C}"/>
              </a:ext>
            </a:extLst>
          </p:cNvPr>
          <p:cNvPicPr>
            <a:picLocks noChangeAspect="1"/>
          </p:cNvPicPr>
          <p:nvPr/>
        </p:nvPicPr>
        <p:blipFill>
          <a:blip r:embed="rId2"/>
          <a:stretch>
            <a:fillRect/>
          </a:stretch>
        </p:blipFill>
        <p:spPr>
          <a:xfrm>
            <a:off x="421613" y="81280"/>
            <a:ext cx="11348773" cy="1239520"/>
          </a:xfrm>
          <a:prstGeom prst="rect">
            <a:avLst/>
          </a:prstGeom>
        </p:spPr>
      </p:pic>
      <p:sp>
        <p:nvSpPr>
          <p:cNvPr id="3" name="TextBox 2">
            <a:extLst>
              <a:ext uri="{FF2B5EF4-FFF2-40B4-BE49-F238E27FC236}">
                <a16:creationId xmlns:a16="http://schemas.microsoft.com/office/drawing/2014/main" id="{D8E2263F-F0C6-0769-95A0-69D0B19ADC04}"/>
              </a:ext>
            </a:extLst>
          </p:cNvPr>
          <p:cNvSpPr txBox="1"/>
          <p:nvPr/>
        </p:nvSpPr>
        <p:spPr>
          <a:xfrm>
            <a:off x="447040" y="1117600"/>
            <a:ext cx="10901680" cy="830997"/>
          </a:xfrm>
          <a:prstGeom prst="rect">
            <a:avLst/>
          </a:prstGeom>
          <a:noFill/>
        </p:spPr>
        <p:txBody>
          <a:bodyPr wrap="square" rtlCol="0">
            <a:spAutoFit/>
          </a:bodyPr>
          <a:lstStyle/>
          <a:p>
            <a:r>
              <a:rPr lang="en-US" sz="2400" b="1" dirty="0">
                <a:solidFill>
                  <a:schemeClr val="accent1"/>
                </a:solidFill>
                <a:latin typeface="Arial" panose="020B0604020202020204" pitchFamily="34" charset="0"/>
                <a:cs typeface="Arial" panose="020B0604020202020204" pitchFamily="34" charset="0"/>
              </a:rPr>
              <a:t>Photographs (Geo-tagged) of the Project work carried till 12</a:t>
            </a:r>
            <a:r>
              <a:rPr lang="en-US" sz="2400" b="1" baseline="30000" dirty="0">
                <a:solidFill>
                  <a:schemeClr val="accent1"/>
                </a:solidFill>
                <a:latin typeface="Arial" panose="020B0604020202020204" pitchFamily="34" charset="0"/>
                <a:cs typeface="Arial" panose="020B0604020202020204" pitchFamily="34" charset="0"/>
              </a:rPr>
              <a:t>th</a:t>
            </a:r>
            <a:r>
              <a:rPr lang="en-US" sz="2400" b="1" dirty="0">
                <a:solidFill>
                  <a:schemeClr val="accent1"/>
                </a:solidFill>
                <a:latin typeface="Arial" panose="020B0604020202020204" pitchFamily="34" charset="0"/>
                <a:cs typeface="Arial" panose="020B0604020202020204" pitchFamily="34" charset="0"/>
              </a:rPr>
              <a:t xml:space="preserve"> Jan 2026</a:t>
            </a:r>
          </a:p>
          <a:p>
            <a:r>
              <a:rPr lang="en-US" sz="2400" b="1" dirty="0">
                <a:solidFill>
                  <a:schemeClr val="accent1"/>
                </a:solidFill>
                <a:latin typeface="Arial" panose="020B0604020202020204" pitchFamily="34" charset="0"/>
                <a:cs typeface="Arial" panose="020B0604020202020204" pitchFamily="34" charset="0"/>
              </a:rPr>
              <a:t xml:space="preserve"> </a:t>
            </a:r>
          </a:p>
        </p:txBody>
      </p:sp>
      <p:sp>
        <p:nvSpPr>
          <p:cNvPr id="4" name="Slide Number Placeholder 10">
            <a:extLst>
              <a:ext uri="{FF2B5EF4-FFF2-40B4-BE49-F238E27FC236}">
                <a16:creationId xmlns:a16="http://schemas.microsoft.com/office/drawing/2014/main" id="{C711DA65-5126-E2CE-A11B-E339D7B6D259}"/>
              </a:ext>
            </a:extLst>
          </p:cNvPr>
          <p:cNvSpPr>
            <a:spLocks noGrp="1"/>
          </p:cNvSpPr>
          <p:nvPr>
            <p:ph type="sldNum" sz="quarter" idx="12"/>
          </p:nvPr>
        </p:nvSpPr>
        <p:spPr>
          <a:xfrm>
            <a:off x="8610600" y="6356350"/>
            <a:ext cx="2743200" cy="365125"/>
          </a:xfrm>
        </p:spPr>
        <p:txBody>
          <a:bodyPr/>
          <a:lstStyle/>
          <a:p>
            <a:fld id="{FD71004A-AFD7-42A5-B6DE-26BE9BFFD18E}" type="slidenum">
              <a:rPr lang="en-IN" smtClean="0"/>
              <a:t>21</a:t>
            </a:fld>
            <a:endParaRPr lang="en-IN"/>
          </a:p>
        </p:txBody>
      </p:sp>
      <p:graphicFrame>
        <p:nvGraphicFramePr>
          <p:cNvPr id="5" name="Table 4">
            <a:extLst>
              <a:ext uri="{FF2B5EF4-FFF2-40B4-BE49-F238E27FC236}">
                <a16:creationId xmlns:a16="http://schemas.microsoft.com/office/drawing/2014/main" id="{1FF11098-CEBB-5729-F259-9EBE90807F16}"/>
              </a:ext>
            </a:extLst>
          </p:cNvPr>
          <p:cNvGraphicFramePr>
            <a:graphicFrameLocks noGrp="1"/>
          </p:cNvGraphicFramePr>
          <p:nvPr>
            <p:extLst>
              <p:ext uri="{D42A27DB-BD31-4B8C-83A1-F6EECF244321}">
                <p14:modId xmlns:p14="http://schemas.microsoft.com/office/powerpoint/2010/main" val="1840769225"/>
              </p:ext>
            </p:extLst>
          </p:nvPr>
        </p:nvGraphicFramePr>
        <p:xfrm>
          <a:off x="2337127" y="1837898"/>
          <a:ext cx="8128000" cy="4629151"/>
        </p:xfrm>
        <a:graphic>
          <a:graphicData uri="http://schemas.openxmlformats.org/drawingml/2006/table">
            <a:tbl>
              <a:tblPr firstRow="1" bandRow="1"/>
              <a:tblGrid>
                <a:gridCol w="4064000">
                  <a:extLst>
                    <a:ext uri="{9D8B030D-6E8A-4147-A177-3AD203B41FA5}">
                      <a16:colId xmlns:a16="http://schemas.microsoft.com/office/drawing/2014/main" val="1452896653"/>
                    </a:ext>
                  </a:extLst>
                </a:gridCol>
                <a:gridCol w="4064000">
                  <a:extLst>
                    <a:ext uri="{9D8B030D-6E8A-4147-A177-3AD203B41FA5}">
                      <a16:colId xmlns:a16="http://schemas.microsoft.com/office/drawing/2014/main" val="909837627"/>
                    </a:ext>
                  </a:extLst>
                </a:gridCol>
              </a:tblGrid>
              <a:tr h="1571455">
                <a:tc>
                  <a:txBody>
                    <a:bodyPr/>
                    <a:lstStyle/>
                    <a:p>
                      <a:pPr algn="ctr"/>
                      <a:endParaRPr lang="en-US" dirty="0"/>
                    </a:p>
                  </a:txBody>
                  <a:tcPr/>
                </a:tc>
                <a:tc>
                  <a:txBody>
                    <a:bodyPr/>
                    <a:lstStyle/>
                    <a:p>
                      <a:pPr algn="ctr"/>
                      <a:endParaRPr lang="en-US"/>
                    </a:p>
                  </a:txBody>
                  <a:tcPr/>
                </a:tc>
                <a:extLst>
                  <a:ext uri="{0D108BD9-81ED-4DB2-BD59-A6C34878D82A}">
                    <a16:rowId xmlns:a16="http://schemas.microsoft.com/office/drawing/2014/main" val="3391203099"/>
                  </a:ext>
                </a:extLst>
              </a:tr>
              <a:tr h="1528848">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1497577176"/>
                  </a:ext>
                </a:extLst>
              </a:tr>
              <a:tr h="1528848">
                <a:tc>
                  <a:txBody>
                    <a:bodyPr/>
                    <a:lstStyle/>
                    <a:p>
                      <a:pPr algn="ctr"/>
                      <a:endParaRPr lang="en-US"/>
                    </a:p>
                  </a:txBody>
                  <a:tcPr/>
                </a:tc>
                <a:tc>
                  <a:txBody>
                    <a:bodyPr/>
                    <a:lstStyle/>
                    <a:p>
                      <a:pPr algn="ctr"/>
                      <a:endParaRPr lang="en-US" dirty="0"/>
                    </a:p>
                  </a:txBody>
                  <a:tcPr/>
                </a:tc>
                <a:extLst>
                  <a:ext uri="{0D108BD9-81ED-4DB2-BD59-A6C34878D82A}">
                    <a16:rowId xmlns:a16="http://schemas.microsoft.com/office/drawing/2014/main" val="3646299149"/>
                  </a:ext>
                </a:extLst>
              </a:tr>
            </a:tbl>
          </a:graphicData>
        </a:graphic>
      </p:graphicFrame>
    </p:spTree>
    <p:extLst>
      <p:ext uri="{BB962C8B-B14F-4D97-AF65-F5344CB8AC3E}">
        <p14:creationId xmlns:p14="http://schemas.microsoft.com/office/powerpoint/2010/main" val="37438610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B74BD-4D4A-B6BC-08F9-6AFE928DF2D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99ABBA5-AEA7-4999-58DA-56C0042481D3}"/>
              </a:ext>
            </a:extLst>
          </p:cNvPr>
          <p:cNvPicPr>
            <a:picLocks noChangeAspect="1"/>
          </p:cNvPicPr>
          <p:nvPr/>
        </p:nvPicPr>
        <p:blipFill>
          <a:blip r:embed="rId2"/>
          <a:stretch>
            <a:fillRect/>
          </a:stretch>
        </p:blipFill>
        <p:spPr>
          <a:xfrm>
            <a:off x="421613" y="81280"/>
            <a:ext cx="11348773" cy="1239520"/>
          </a:xfrm>
          <a:prstGeom prst="rect">
            <a:avLst/>
          </a:prstGeom>
        </p:spPr>
      </p:pic>
      <p:sp>
        <p:nvSpPr>
          <p:cNvPr id="5" name="TextBox 4">
            <a:extLst>
              <a:ext uri="{FF2B5EF4-FFF2-40B4-BE49-F238E27FC236}">
                <a16:creationId xmlns:a16="http://schemas.microsoft.com/office/drawing/2014/main" id="{4EA682AA-E6F0-321C-F00E-9CB6593A1824}"/>
              </a:ext>
            </a:extLst>
          </p:cNvPr>
          <p:cNvSpPr txBox="1"/>
          <p:nvPr/>
        </p:nvSpPr>
        <p:spPr>
          <a:xfrm>
            <a:off x="751840" y="1430496"/>
            <a:ext cx="6096000" cy="677108"/>
          </a:xfrm>
          <a:prstGeom prst="rect">
            <a:avLst/>
          </a:prstGeom>
          <a:noFill/>
        </p:spPr>
        <p:txBody>
          <a:bodyPr wrap="square">
            <a:spAutoFit/>
          </a:bodyPr>
          <a:lstStyle/>
          <a:p>
            <a:r>
              <a:rPr lang="en-US" sz="2000" b="1" dirty="0">
                <a:solidFill>
                  <a:srgbClr val="7030A0"/>
                </a:solidFill>
                <a:latin typeface="Arial" panose="020B0604020202020204" pitchFamily="34" charset="0"/>
                <a:cs typeface="Arial" panose="020B0604020202020204" pitchFamily="34" charset="0"/>
              </a:rPr>
              <a:t>References</a:t>
            </a:r>
          </a:p>
          <a:p>
            <a:endParaRPr lang="en-US" dirty="0"/>
          </a:p>
        </p:txBody>
      </p:sp>
    </p:spTree>
    <p:extLst>
      <p:ext uri="{BB962C8B-B14F-4D97-AF65-F5344CB8AC3E}">
        <p14:creationId xmlns:p14="http://schemas.microsoft.com/office/powerpoint/2010/main" val="25909753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7F770-D095-2EC4-D85D-078A9344BF0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84C5434-78F1-AD57-ED7D-7CF7B301BEC9}"/>
              </a:ext>
            </a:extLst>
          </p:cNvPr>
          <p:cNvPicPr>
            <a:picLocks noChangeAspect="1"/>
          </p:cNvPicPr>
          <p:nvPr/>
        </p:nvPicPr>
        <p:blipFill>
          <a:blip r:embed="rId2"/>
          <a:stretch>
            <a:fillRect/>
          </a:stretch>
        </p:blipFill>
        <p:spPr>
          <a:xfrm>
            <a:off x="421613" y="81280"/>
            <a:ext cx="11348773" cy="1239520"/>
          </a:xfrm>
          <a:prstGeom prst="rect">
            <a:avLst/>
          </a:prstGeom>
        </p:spPr>
      </p:pic>
      <p:sp>
        <p:nvSpPr>
          <p:cNvPr id="5" name="TextBox 4">
            <a:extLst>
              <a:ext uri="{FF2B5EF4-FFF2-40B4-BE49-F238E27FC236}">
                <a16:creationId xmlns:a16="http://schemas.microsoft.com/office/drawing/2014/main" id="{0252B322-E2AF-7F98-60FD-896788918584}"/>
              </a:ext>
            </a:extLst>
          </p:cNvPr>
          <p:cNvSpPr txBox="1"/>
          <p:nvPr/>
        </p:nvSpPr>
        <p:spPr>
          <a:xfrm>
            <a:off x="751840" y="1430496"/>
            <a:ext cx="6096000" cy="677108"/>
          </a:xfrm>
          <a:prstGeom prst="rect">
            <a:avLst/>
          </a:prstGeom>
          <a:noFill/>
        </p:spPr>
        <p:txBody>
          <a:bodyPr wrap="square">
            <a:spAutoFit/>
          </a:bodyPr>
          <a:lstStyle/>
          <a:p>
            <a:r>
              <a:rPr lang="en-US" sz="2000" b="1" dirty="0">
                <a:solidFill>
                  <a:srgbClr val="7030A0"/>
                </a:solidFill>
                <a:latin typeface="Arial" panose="020B0604020202020204" pitchFamily="34" charset="0"/>
                <a:cs typeface="Arial" panose="020B0604020202020204" pitchFamily="34" charset="0"/>
              </a:rPr>
              <a:t>Scanned Project Diary</a:t>
            </a:r>
          </a:p>
          <a:p>
            <a:endParaRPr lang="en-US" dirty="0"/>
          </a:p>
        </p:txBody>
      </p:sp>
    </p:spTree>
    <p:extLst>
      <p:ext uri="{BB962C8B-B14F-4D97-AF65-F5344CB8AC3E}">
        <p14:creationId xmlns:p14="http://schemas.microsoft.com/office/powerpoint/2010/main" val="40315378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TotalTime>
  <Words>886</Words>
  <Application>Microsoft Office PowerPoint</Application>
  <PresentationFormat>Widescreen</PresentationFormat>
  <Paragraphs>149</Paragraphs>
  <Slides>23</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SimSun</vt: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Anil Kaldate</dc:creator>
  <cp:lastModifiedBy>Anil Kaldate</cp:lastModifiedBy>
  <cp:revision>24</cp:revision>
  <dcterms:created xsi:type="dcterms:W3CDTF">2025-07-24T10:23:34Z</dcterms:created>
  <dcterms:modified xsi:type="dcterms:W3CDTF">2026-01-11T08:07:30Z</dcterms:modified>
</cp:coreProperties>
</file>